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xml" ContentType="application/xml"/>
  <Default Extension="rels" ContentType="application/vnd.openxmlformats-package.relationships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3" Type="http://schemas.openxmlformats.org/officeDocument/2006/relationships/tableStyles" Target="tableStyles.xml" /><Relationship Id="rId6" Type="http://schemas.openxmlformats.org/officeDocument/2006/relationships/slide" Target="slides/slide6.xml" /><Relationship Id="rId12" Type="http://schemas.openxmlformats.org/officeDocument/2006/relationships/presProps" Target="presProps.xml" /><Relationship Id="rId14" Type="http://schemas.openxmlformats.org/officeDocument/2006/relationships/viewProps" Target="viewProps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notesMaster" Target="notesMasters/notes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6" Type="http://schemas.openxmlformats.org/officeDocument/2006/relationships/image" Target="media/image7.svg" /><Relationship Id="rId5" Type="http://schemas.openxmlformats.org/officeDocument/2006/relationships/image" Target="media/image6.svg" /><Relationship Id="rId4" Type="http://schemas.openxmlformats.org/officeDocument/2006/relationships/image" Target="media/image5.svg" /><Relationship Id="rId3" Type="http://schemas.openxmlformats.org/officeDocument/2006/relationships/image" Target="media/image4.svg" /><Relationship Id="rId1" Type="http://schemas.openxmlformats.org/officeDocument/2006/relationships/image" Target="media/image2.png" /><Relationship Id="rId2" Type="http://schemas.openxmlformats.org/officeDocument/2006/relationships/image" Target="media/image3.sv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9.svg" /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1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7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7F7F5', position: 'relative', overflow: 'hidden', flexDirection: 'row', alignItems: 'center', justifyContent: 'space-between', fontFamily: 'PingFang SC' }}&gt;&#10;    &lt;Box style={{ position: 'absolute', top: -200, left: -160, width: 560, height: 560, background: 'radial-gradient(circle, rgba(94,103,82,0.10) 0%, rgba(94,103,82,0) 70%)' }} /&gt;&#10;&#10;    &lt;Box style={{ position: 'relative', zIndex: 1, width: 620, paddingLeft: 88, justifyContent: 'center' }}&gt;&#10;        &lt;Text style={{ fontSize: 12, fontWeight: 500, letterSpacing: 2.4, color: '#5E6752' }}&gt;QIANAN · 一稿多岸的跨境上新 AGENT&lt;/Text&gt;&#10;        &lt;Text style={{ fontSize: 72, fontWeight: 700, color: '#20211E', lineHeight: 1.08, letterSpacing: -1.5, marginTop: 24 }}&gt;千岸 QianAn&lt;/Text&gt;&#10;        &lt;Text style={{ fontSize: 23, fontWeight: 400, color: '#64645E', marginTop: 18, lineHeight: 1.5 }}&gt;一稿多岸的跨境上新 Agent&lt;/Text&gt;&#10;        &lt;Box style={{ width: 56, height: 2, background: '#5E6752', marginTop: 28 }} /&gt;&#10;        &lt;Text style={{ fontSize: 18, color: '#20211E', marginTop: 28, lineHeight: 1.7 }}&gt;&#10;            一张商品图 + 一段中文卖点，进。&lt;br /&gt;&#10;            五个平台的合规上架包，出。&#10;        &lt;/Text&gt;&#10;        &lt;Text style={{ fontSize: 12, color: '#858580', marginTop: 52, lineHeight: 1.8, letterSpacing: 0.4 }}&gt;&#10;            Simon Studio · 阿里「AI+跨境黑客松巅峰赛」&lt;br /&gt;&#10;            场景一 · AI 智能上新 · 决赛路演&#10;        &lt;/Text&gt;&#10;    &lt;/Box&gt;&#10;&#10;    &lt;Box style={{ position: 'relative', zIndex: 1, width: 520, paddingRight: 80 }}&gt;&#10;        &lt;Image&#10;            src='assets/gen_scene.png'&#10;            style={{ width: 440, height: 440, objectFit: 'cover', borderRadius: 14, border: '1px solid #DEDED9' }}&#10;        /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-1524000" y="-1905000"/>
            <a:ext cx="5334000" cy="5334000"/>
          </a:xfrm>
          <a:custGeom>
            <a:pathLst>
              <a:path w="560" h="560">
                <a:moveTo>
                  <a:pt x="560" y="560"/>
                </a:moveTo>
                <a:lnTo>
                  <a:pt x="160" y="560"/>
                </a:lnTo>
                <a:lnTo>
                  <a:pt x="160" y="200"/>
                </a:lnTo>
                <a:lnTo>
                  <a:pt x="560" y="200"/>
                </a:lnTo>
                <a:close/>
              </a:path>
            </a:pathLst>
          </a:custGeom>
          <a:gradFill>
            <a:gsLst>
              <a:gs pos="0">
                <a:srgbClr val="5E6752">
                  <a:alpha val="10000"/>
                </a:srgbClr>
              </a:gs>
              <a:gs pos="70000">
                <a:srgbClr val="5E67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838200" y="1390650"/>
            <a:ext cx="506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80">
                <a:solidFill>
                  <a:srgbClr val="5E6752"/>
                </a:solidFill>
                <a:latin typeface="PingFang SC"/>
                <a:ea typeface="PingFang SC"/>
              </a:rPr>
              <a:t>QIANAN · </a:t>
            </a:r>
            <a:r>
              <a:rPr lang="zh-CN" sz="900" spc="180">
                <a:solidFill>
                  <a:srgbClr val="5E6752"/>
                </a:solidFill>
                <a:latin typeface="PingFang SC"/>
                <a:ea typeface="PingFang SC"/>
              </a:rPr>
              <a:t>一稿多岸的跨境上新</a:t>
            </a:r>
            <a:r>
              <a:rPr lang="en-US" sz="900" spc="180">
                <a:solidFill>
                  <a:srgbClr val="5E6752"/>
                </a:solidFill>
                <a:latin typeface="PingFang SC"/>
                <a:ea typeface="PingFang SC"/>
              </a:rPr>
              <a:t> AGENT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38200" y="1762125"/>
            <a:ext cx="5067300" cy="895350"/>
          </a:xfrm>
          <a:prstGeom prst="rect"/>
        </p:spPr>
        <p:txBody>
          <a:bodyPr wrap="none" lIns="0" tIns="0" rIns="0" bIns="0"/>
          <a:p>
            <a:pPr>
              <a:lnSpc>
                <a:spcPct val="108000"/>
              </a:lnSpc>
            </a:pPr>
            <a:r>
              <a:rPr lang="zh-CN" sz="5400" b="1" spc="-112">
                <a:solidFill>
                  <a:srgbClr val="20211E"/>
                </a:solidFill>
                <a:latin typeface="PingFang SC"/>
                <a:ea typeface="PingFang SC"/>
              </a:rPr>
              <a:t>千岸</a:t>
            </a:r>
            <a:r>
              <a:rPr lang="en-US" sz="5400" b="1" spc="-112">
                <a:solidFill>
                  <a:srgbClr val="20211E"/>
                </a:solidFill>
                <a:latin typeface="PingFang SC"/>
                <a:ea typeface="PingFang SC"/>
              </a:rPr>
              <a:t> QianAn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38200" y="2828925"/>
            <a:ext cx="50673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64645E"/>
                </a:solidFill>
                <a:latin typeface="PingFang SC"/>
                <a:ea typeface="PingFang SC"/>
              </a:rPr>
              <a:t>一稿多岸的跨境上新</a:t>
            </a:r>
            <a:r>
              <a:rPr lang="en-US" sz="1725">
                <a:solidFill>
                  <a:srgbClr val="64645E"/>
                </a:solidFill>
                <a:latin typeface="PingFang SC"/>
                <a:ea typeface="PingFang SC"/>
              </a:rPr>
              <a:t> Agent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38200" y="3495675"/>
            <a:ext cx="533400" cy="19050"/>
          </a:xfrm>
          <a:prstGeom prst="rect">
            <a:avLst/>
          </a:prstGeom>
          <a:solidFill>
            <a:srgbClr val="5E6752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38200" y="3781425"/>
            <a:ext cx="5067300" cy="704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20211E"/>
                </a:solidFill>
                <a:latin typeface="PingFang SC"/>
                <a:ea typeface="PingFang SC"/>
              </a:rPr>
              <a:t>一张商品图</a:t>
            </a:r>
            <a:r>
              <a:rPr lang="en-US" sz="1350">
                <a:solidFill>
                  <a:srgbClr val="20211E"/>
                </a:solidFill>
                <a:latin typeface="PingFang SC"/>
                <a:ea typeface="PingFang SC"/>
              </a:rPr>
              <a:t> + </a:t>
            </a:r>
            <a:r>
              <a:rPr lang="zh-CN" sz="1350">
                <a:solidFill>
                  <a:srgbClr val="20211E"/>
                </a:solidFill>
                <a:latin typeface="PingFang SC"/>
                <a:ea typeface="PingFang SC"/>
              </a:rPr>
              <a:t>一段中文卖点，进。</a:t>
            </a:r>
            <a:endParaRPr/>
          </a:p>
          <a:p>
            <a:pPr>
              <a:lnSpc>
                <a:spcPct val="170000"/>
              </a:lnSpc>
            </a:pPr>
            <a:r>
              <a:rPr lang="zh-CN" sz="1350">
                <a:solidFill>
                  <a:srgbClr val="20211E"/>
                </a:solidFill>
                <a:latin typeface="PingFang SC"/>
                <a:ea typeface="PingFang SC"/>
              </a:rPr>
              <a:t>五个平台的合规上架包，出。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38200" y="4981575"/>
            <a:ext cx="5067300" cy="49530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900" spc="30">
                <a:solidFill>
                  <a:srgbClr val="858580"/>
                </a:solidFill>
                <a:latin typeface="PingFang SC"/>
                <a:ea typeface="PingFang SC"/>
              </a:rPr>
              <a:t>Simon Studio · </a:t>
            </a:r>
            <a:r>
              <a:rPr lang="zh-CN" sz="900" spc="30">
                <a:solidFill>
                  <a:srgbClr val="858580"/>
                </a:solidFill>
                <a:latin typeface="PingFang SC"/>
                <a:ea typeface="PingFang SC"/>
              </a:rPr>
              <a:t>阿里「</a:t>
            </a:r>
            <a:r>
              <a:rPr lang="en-US" sz="900" spc="30">
                <a:solidFill>
                  <a:srgbClr val="858580"/>
                </a:solidFill>
                <a:latin typeface="PingFang SC"/>
                <a:ea typeface="PingFang SC"/>
              </a:rPr>
              <a:t>AI+</a:t>
            </a:r>
            <a:r>
              <a:rPr lang="zh-CN" sz="900" spc="30">
                <a:solidFill>
                  <a:srgbClr val="858580"/>
                </a:solidFill>
                <a:latin typeface="PingFang SC"/>
                <a:ea typeface="PingFang SC"/>
              </a:rPr>
              <a:t>跨境黑客松巅峰赛」</a:t>
            </a:r>
            <a:endParaRPr/>
          </a:p>
          <a:p>
            <a:pPr>
              <a:lnSpc>
                <a:spcPct val="180000"/>
              </a:lnSpc>
            </a:pPr>
            <a:r>
              <a:rPr lang="zh-CN" sz="900" spc="30">
                <a:solidFill>
                  <a:srgbClr val="858580"/>
                </a:solidFill>
                <a:latin typeface="PingFang SC"/>
                <a:ea typeface="PingFang SC"/>
              </a:rPr>
              <a:t>场景一</a:t>
            </a:r>
            <a:r>
              <a:rPr lang="en-US" sz="900" spc="30">
                <a:solidFill>
                  <a:srgbClr val="858580"/>
                </a:solidFill>
                <a:latin typeface="PingFang SC"/>
                <a:ea typeface="PingFang SC"/>
              </a:rPr>
              <a:t> · AI </a:t>
            </a:r>
            <a:r>
              <a:rPr lang="zh-CN" sz="900" spc="30">
                <a:solidFill>
                  <a:srgbClr val="858580"/>
                </a:solidFill>
                <a:latin typeface="PingFang SC"/>
                <a:ea typeface="PingFang SC"/>
              </a:rPr>
              <a:t>智能上新</a:t>
            </a:r>
            <a:r>
              <a:rPr lang="en-US" sz="900" spc="30">
                <a:solidFill>
                  <a:srgbClr val="858580"/>
                </a:solidFill>
                <a:latin typeface="PingFang SC"/>
                <a:ea typeface="PingFang SC"/>
              </a:rPr>
              <a:t> · </a:t>
            </a:r>
            <a:r>
              <a:rPr lang="zh-CN" sz="900" spc="30">
                <a:solidFill>
                  <a:srgbClr val="858580"/>
                </a:solidFill>
                <a:latin typeface="PingFang SC"/>
                <a:ea typeface="PingFang SC"/>
              </a:rPr>
              <a:t>决赛路演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7239000" y="1333500"/>
            <a:ext cx="4191000" cy="4191000"/>
          </a:xfrm>
          <a:prstGeom prst="rect">
            <a:avLst/>
          </a:prstGeom>
          <a:ln w="12700">
            <a:solidFill>
              <a:srgbClr val="DEDED9"/>
            </a:solidFill>
            <a:prstDash val="solid"/>
          </a:ln>
        </p:spPr>
        <p:txBody>
          <a:bodyPr/>
          <a:p/>
        </p:txBody>
      </p:sp>
      <p:pic>
        <p:nvPicPr>
          <p:cNvPr id="11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239000" y="1333500"/>
            <a:ext cx="4191000" cy="4191000"/>
          </a:xfrm>
          <a:prstGeom prst="roundRect">
            <a:avLst>
              <a:gd name="adj" fmla="val 3182"/>
            </a:avLst>
          </a:prstGeom>
          <a:ln/>
        </p:spPr>
      </p:pic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8" name="" descr="&lt;Slide style={{ width: 1280, height: 720, background: '#F7F7F5', padding: '32px 64px 0 64px', fontFamily: 'PingFang SC' }}&gt;&#10;    &lt;Box style={{ height: 88 }}&gt;&#10;        &lt;Text style={{ fontSize: 12, fontWeight: 500, letterSpacing: 1.8, color: '#5E6752' }}&gt;PROBLEM · 现状&lt;/Text&gt;&#10;        &lt;Text style={{ fontSize: 32, fontWeight: 700, color: '#20211E', letterSpacing: -0.4, marginTop: 6, lineHeight: 1.25 }}&gt;一个新品，五套素材，三到七天&lt;/Text&gt;&#10;    &lt;/Box&gt;&#10;&#10;    &lt;Box style={{ height: 540, flexDirection: 'row', gap: 48 }}&gt;&#10;        &lt;Box style={{ width: 640, justifyContent: 'center' }}&gt;&#10;            &lt;Box style={{ flexDirection: 'row', alignItems: 'flex-end', gap: 14 }}&gt;&#10;                &lt;Text style={{ fontSize: 96, fontWeight: 700, color: '#20211E', lineHeight: 1, letterSpacing: -2 }}&gt;3–7&lt;/Text&gt;&#10;                &lt;Text style={{ fontSize: 24, fontWeight: 600, color: '#64645E', marginBottom: 14 }}&gt;天&lt;/Text&gt;&#10;            &lt;/Box&gt;&#10;            &lt;Text style={{ fontSize: 13, color: '#858580', marginTop: 12 }}&gt;单款产品 A+ / 详情页全套素材的外包周期&lt;/Text&gt;&#10;&#10;            &lt;Box style={{ width: '100%', height: 1, background: '#DEDED9', marginTop: 44, marginBottom: 40 }} /&gt;&#10;&#10;            &lt;Box style={{ flexDirection: 'row', alignItems: 'flex-end', gap: 14 }}&gt;&#10;                &lt;Text style={{ fontSize: 72, fontWeight: 700, color: '#20211E', lineHeight: 1, letterSpacing: -1.5 }}&gt;1000–3300&lt;/Text&gt;&#10;                &lt;Text style={{ fontSize: 24, fontWeight: 600, color: '#64645E', marginBottom: 10 }}&gt;元&lt;/Text&gt;&#10;            &lt;/Box&gt;&#10;            &lt;Text style={{ fontSize: 13, color: '#858580', marginTop: 12 }}&gt;单款全套素材外包成本 · CSDN / 什么值得买 调研&lt;/Text&gt;&#10;        &lt;/Box&gt;&#10;&#10;        &lt;Box style={{&#10;            width: 464,&#10;            background: '#FFFFFF',&#10;            border: '1px solid #DEDED9',&#10;            borderRadius: 12,&#10;            padding: 30,&#10;            boxShadow: '0 1px 2px rgba(26,32,39,0.05)',&#10;        }}&gt;&#10;            &lt;Text style={{ fontSize: 21, fontWeight: 600, color: '#20211E', lineHeight: 1.4 }}&gt;真正堆不完的，是规则&lt;/Text&gt;&#10;            &lt;Text style={{ fontSize: 14, color: '#64645E', lineHeight: 1.6, marginTop: 10 }}&gt;同一件商品，五个平台五套规范，没有任何一套能照抄。&lt;/Text&gt;&#10;&#10;            &lt;Box style={{ marginTop: 22, gap: 13 }}&gt;&#10;                &lt;Box style={{ flexDirection: 'row', gap: 12 }}&gt;&#10;                    &lt;Text style={{ fontSize: 12, fontWeight: 700, color: '#5E6752', width: 96 }}&gt;Amazon&lt;/Text&gt;&#10;                    &lt;Text style={{ fontSize: 14, color: '#64645E', flex: 1, lineHeight: 1.4 }}&gt;标题 ≤200 字符、五点描述、A+ 模块结构&lt;/Text&gt;&#10;                &lt;/Box&gt;&#10;                &lt;Box style={{ flexDirection: 'row', gap: 12 }}&gt;&#10;                    &lt;Text style={{ fontSize: 12, fontWeight: 700, color: '#5E6752', width: 96 }}&gt;Shopee&lt;/Text&gt;&#10;                    &lt;Text style={{ fontSize: 14, color: '#64645E', flex: 1, lineHeight: 1.4 }}&gt;主图禁水印与边框、各站点字符限制不同&lt;/Text&gt;&#10;                &lt;/Box&gt;&#10;                &lt;Box style={{ flexDirection: 'row', gap: 12 }}&gt;&#10;                    &lt;Text style={{ fontSize: 12, fontWeight: 700, color: '#5E6752', width: 96 }}&gt;速卖通 / Lazada&lt;/Text&gt;&#10;                    &lt;Text style={{ fontSize: 14, color: '#64645E', flex: 1, lineHeight: 1.4 }}&gt;类目属性必填、多语言标题&lt;/Text&gt;&#10;                &lt;/Box&gt;&#10;                &lt;Box style={{ flexDirection: 'row', gap: 12 }}&gt;&#10;                    &lt;Text style={{ fontSize: 12, fontWeight: 700, color: '#5E6752', width: 96 }}&gt;TikTok Shop&lt;/Text&gt;&#10;                    &lt;Text style={{ fontSize: 14, color: '#64645E', flex: 1, lineHeight: 1.4 }}&gt;商品卡文案 + 短视频脚本&lt;/Text&gt;&#10;                &lt;/Box&gt;&#10;            &lt;/Box&gt;&#10;&#10;            &lt;Box style={{ background: '#EFEFEB', borderRadius: 8, padding: 18, marginTop: 22 }}&gt;&#10;                &lt;Text style={{ fontSize: 30, fontWeight: 700, color: '#20211E', lineHeight: 1 }}&gt;×5&lt;/Text&gt;&#10;                &lt;Text style={{ fontSize: 12, color: '#64645E', marginTop: 8, lineHeight: 1.6 }}&gt;1 套素材 × 5 站点 × 多语种，人工成本与周期直接翻五倍&lt;/Text&gt;&#10;            &lt;/Box&gt;&#10;&#10;            &lt;Box style={{ marginTop: 'auto', paddingTop: 18, borderTop: '1px solid #EDEDE9' }}&gt;&#10;                &lt;Text style={{ fontSize: 13, color: '#64645E', lineHeight: 1.6 }}&gt;钱和天数是标价，背规则、踩雷、被下架才是人力堆不完的那部分。&lt;/Text&gt;&#10;            &lt;/Box&gt;&#10;        &lt;/Box&gt;&#10;    &lt;/Box&gt;&#10;&#10;    &lt;Box style={{ height: 60, borderTop: '1px solid #DEDED9', flexDirection: 'row', alignItems: 'center', justifyContent: 'space-between' }}&gt;&#10;        &lt;Text style={{ fontSize: 12, color: '#858580', letterSpacing: 0.3 }}&gt;千岸 QianAn · Simon Studio&lt;/Text&gt;&#10;        &lt;Text style={{ fontSize: 12, color: '#858580', letterSpacing: 1.2 }}&gt;02 / 1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35">
                <a:solidFill>
                  <a:srgbClr val="5E6752"/>
                </a:solidFill>
                <a:latin typeface="PingFang SC"/>
                <a:ea typeface="PingFang SC"/>
              </a:rPr>
              <a:t>PROBLEM · </a:t>
            </a:r>
            <a:r>
              <a:rPr lang="zh-CN" sz="900" spc="135">
                <a:solidFill>
                  <a:srgbClr val="5E6752"/>
                </a:solidFill>
                <a:latin typeface="PingFang SC"/>
                <a:ea typeface="PingFang SC"/>
              </a:rPr>
              <a:t>现状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 spc="-30">
                <a:solidFill>
                  <a:srgbClr val="20211E"/>
                </a:solidFill>
                <a:latin typeface="PingFang SC"/>
                <a:ea typeface="PingFang SC"/>
              </a:rPr>
              <a:t>一个新品，五套素材，三到七天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2076450"/>
            <a:ext cx="17526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 spc="-150">
                <a:solidFill>
                  <a:srgbClr val="20211E"/>
                </a:solidFill>
                <a:latin typeface="PingFang SC"/>
                <a:ea typeface="PingFang SC"/>
              </a:rPr>
              <a:t>3–7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2495550" y="27717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64645E"/>
                </a:solidFill>
                <a:latin typeface="PingFang SC"/>
                <a:ea typeface="PingFang SC"/>
              </a:rPr>
              <a:t>天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09600" y="3295650"/>
            <a:ext cx="609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58580"/>
                </a:solidFill>
                <a:latin typeface="PingFang SC"/>
                <a:ea typeface="PingFang SC"/>
              </a:rPr>
              <a:t>单款产品</a:t>
            </a:r>
            <a:r>
              <a:rPr lang="en-US" sz="975">
                <a:solidFill>
                  <a:srgbClr val="858580"/>
                </a:solidFill>
                <a:latin typeface="PingFang SC"/>
                <a:ea typeface="PingFang SC"/>
              </a:rPr>
              <a:t> A+ / </a:t>
            </a:r>
            <a:r>
              <a:rPr lang="zh-CN" sz="975">
                <a:solidFill>
                  <a:srgbClr val="858580"/>
                </a:solidFill>
                <a:latin typeface="PingFang SC"/>
                <a:ea typeface="PingFang SC"/>
              </a:rPr>
              <a:t>详情页全套素材的外包周期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09600" y="3867150"/>
            <a:ext cx="6096000" cy="9525"/>
          </a:xfrm>
          <a:prstGeom prst="rect">
            <a:avLst/>
          </a:prstGeom>
          <a:solidFill>
            <a:srgbClr val="DEDED9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4257675"/>
            <a:ext cx="360045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 spc="-112">
                <a:solidFill>
                  <a:srgbClr val="20211E"/>
                </a:solidFill>
                <a:latin typeface="PingFang SC"/>
                <a:ea typeface="PingFang SC"/>
              </a:rPr>
              <a:t>1000–3300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4343400" y="471487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64645E"/>
                </a:solidFill>
                <a:latin typeface="PingFang SC"/>
                <a:ea typeface="PingFang SC"/>
              </a:rPr>
              <a:t>元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09600" y="5200650"/>
            <a:ext cx="6096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58580"/>
                </a:solidFill>
                <a:latin typeface="PingFang SC"/>
                <a:ea typeface="PingFang SC"/>
              </a:rPr>
              <a:t>单款全套素材外包成本</a:t>
            </a:r>
            <a:r>
              <a:rPr lang="en-US" sz="975">
                <a:solidFill>
                  <a:srgbClr val="858580"/>
                </a:solidFill>
                <a:latin typeface="PingFang SC"/>
                <a:ea typeface="PingFang SC"/>
              </a:rPr>
              <a:t> · CSDN / </a:t>
            </a:r>
            <a:r>
              <a:rPr lang="zh-CN" sz="975">
                <a:solidFill>
                  <a:srgbClr val="858580"/>
                </a:solidFill>
                <a:latin typeface="PingFang SC"/>
                <a:ea typeface="PingFang SC"/>
              </a:rPr>
              <a:t>什么值得买</a:t>
            </a:r>
            <a:r>
              <a:rPr lang="en-US" sz="975">
                <a:solidFill>
                  <a:srgbClr val="858580"/>
                </a:solidFill>
                <a:latin typeface="PingFang SC"/>
                <a:ea typeface="PingFang SC"/>
              </a:rPr>
              <a:t> </a:t>
            </a:r>
            <a:r>
              <a:rPr lang="zh-CN" sz="975">
                <a:solidFill>
                  <a:srgbClr val="858580"/>
                </a:solidFill>
                <a:latin typeface="PingFang SC"/>
                <a:ea typeface="PingFang SC"/>
              </a:rPr>
              <a:t>调研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7162800" y="1143000"/>
            <a:ext cx="4419600" cy="51435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EDED9"/>
            </a:solidFill>
            <a:prstDash val="solid"/>
          </a:ln>
          <a:effectLst>
            <a:outerShdw blurRad="19050" dist="9525" dir="5400000">
              <a:srgbClr val="1A2027">
                <a:alpha val="5000"/>
              </a:srgbClr>
            </a:outerShdw>
          </a:effectLst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448550" y="1428750"/>
            <a:ext cx="38481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 b="1">
                <a:solidFill>
                  <a:srgbClr val="20211E"/>
                </a:solidFill>
                <a:latin typeface="PingFang SC"/>
                <a:ea typeface="PingFang SC"/>
              </a:rPr>
              <a:t>真正堆不完的，是规则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448550" y="1866900"/>
            <a:ext cx="38481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同一件商品，五个平台五套规范，没有任何一套能照抄。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448550" y="233362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Amazon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477250" y="2333625"/>
            <a:ext cx="2819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标题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 ≤200 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字符、五点描述、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A+ 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模块结构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448550" y="2686050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Shopee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477250" y="2686050"/>
            <a:ext cx="2819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主图禁水印与边框、各站点字符限制不同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448550" y="3038475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E6752"/>
                </a:solidFill>
                <a:latin typeface="PingFang SC"/>
                <a:ea typeface="PingFang SC"/>
              </a:rPr>
              <a:t>速卖通</a:t>
            </a: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 / Lazada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477250" y="3038475"/>
            <a:ext cx="2819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类目属性必填、多语言标题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448550" y="3390900"/>
            <a:ext cx="914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TikTok Shop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477250" y="3390900"/>
            <a:ext cx="2819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商品卡文案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 + 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短视频脚本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448550" y="3829050"/>
            <a:ext cx="3848100" cy="990600"/>
          </a:xfrm>
          <a:prstGeom prst="roundRect">
            <a:avLst>
              <a:gd name="adj" fmla="val 7692"/>
            </a:avLst>
          </a:prstGeom>
          <a:solidFill>
            <a:srgbClr val="EFEFEB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620000" y="4000500"/>
            <a:ext cx="3505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20211E"/>
                </a:solidFill>
                <a:latin typeface="PingFang SC"/>
                <a:ea typeface="PingFang SC"/>
              </a:rPr>
              <a:t>×5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620000" y="4419600"/>
            <a:ext cx="35052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64645E"/>
                </a:solidFill>
                <a:latin typeface="PingFang SC"/>
                <a:ea typeface="PingFang SC"/>
              </a:rPr>
              <a:t>1 </a:t>
            </a:r>
            <a:r>
              <a:rPr lang="zh-CN" sz="900">
                <a:solidFill>
                  <a:srgbClr val="64645E"/>
                </a:solidFill>
                <a:latin typeface="PingFang SC"/>
                <a:ea typeface="PingFang SC"/>
              </a:rPr>
              <a:t>套素材</a:t>
            </a:r>
            <a:r>
              <a:rPr lang="en-US" sz="900">
                <a:solidFill>
                  <a:srgbClr val="64645E"/>
                </a:solidFill>
                <a:latin typeface="PingFang SC"/>
                <a:ea typeface="PingFang SC"/>
              </a:rPr>
              <a:t> × 5 </a:t>
            </a:r>
            <a:r>
              <a:rPr lang="zh-CN" sz="900">
                <a:solidFill>
                  <a:srgbClr val="64645E"/>
                </a:solidFill>
                <a:latin typeface="PingFang SC"/>
                <a:ea typeface="PingFang SC"/>
              </a:rPr>
              <a:t>站点</a:t>
            </a:r>
            <a:r>
              <a:rPr lang="en-US" sz="900">
                <a:solidFill>
                  <a:srgbClr val="64645E"/>
                </a:solidFill>
                <a:latin typeface="PingFang SC"/>
                <a:ea typeface="PingFang SC"/>
              </a:rPr>
              <a:t> × </a:t>
            </a:r>
            <a:r>
              <a:rPr lang="zh-CN" sz="900">
                <a:solidFill>
                  <a:srgbClr val="64645E"/>
                </a:solidFill>
                <a:latin typeface="PingFang SC"/>
                <a:ea typeface="PingFang SC"/>
              </a:rPr>
              <a:t>多语种，人工成本与周期直接翻五倍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7448550" y="5581650"/>
            <a:ext cx="3848100" cy="428625"/>
          </a:xfrm>
          <a:custGeom>
            <a:pathLst>
              <a:path w="404" h="45">
                <a:moveTo>
                  <a:pt x="0" y="0"/>
                </a:moveTo>
                <a:lnTo>
                  <a:pt x="404" y="0"/>
                </a:lnTo>
                <a:lnTo>
                  <a:pt x="404" y="1"/>
                </a:lnTo>
                <a:lnTo>
                  <a:pt x="0" y="1"/>
                </a:lnTo>
                <a:close/>
              </a:path>
            </a:pathLst>
          </a:custGeom>
          <a:solidFill>
            <a:srgbClr val="EDEDE9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448550" y="5762625"/>
            <a:ext cx="38481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钱和天数是标价，背规则、踩雷、被下架才是人力堆不完的那部分。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609600" y="62865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">
                <a:solidFill>
                  <a:srgbClr val="858580"/>
                </a:solidFill>
                <a:latin typeface="PingFang SC"/>
                <a:ea typeface="PingFang SC"/>
              </a:rPr>
              <a:t>千岸</a:t>
            </a:r>
            <a:r>
              <a:rPr lang="en-US" sz="900" spc="22">
                <a:solidFill>
                  <a:srgbClr val="858580"/>
                </a:solidFill>
                <a:latin typeface="PingFang SC"/>
                <a:ea typeface="PingFang SC"/>
              </a:rPr>
              <a:t> QianAn · Simon Studio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58580"/>
                </a:solidFill>
                <a:latin typeface="PingFang SC"/>
                <a:ea typeface="PingFang SC"/>
              </a:rPr>
              <a:t>02 / 10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8" name="" descr="&lt;Slide style={{ width: 1280, height: 720, background: '#F7F7F5', padding: '32px 64px 0 64px', fontFamily: 'PingFang SC' }}&gt;&#10;    &lt;Box style={{ height: 88 }}&gt;&#10;        &lt;Text style={{ fontSize: 12, fontWeight: 500, letterSpacing: 1.8, color: '#5E6752' }}&gt;SOLUTION · 方案&lt;/Text&gt;&#10;        &lt;Text style={{ fontSize: 32, fontWeight: 700, color: '#20211E', letterSpacing: -0.4, marginTop: 6, lineHeight: 1.25 }}&gt;一次输入，五份产出&lt;/Text&gt;&#10;    &lt;/Box&gt;&#10;&#10;    &lt;Box style={{ height: 540, flexDirection: 'row', gap: 48 }}&gt;&#10;        &lt;Box style={{ width: 640, justifyContent: 'center' }}&gt;&#10;            &lt;Image&#10;                src='assets/home_chat.png'&#10;                style={{ width: 640, height: 400, objectFit: 'cover', borderRadius: 10, border: '1px solid #DEDED9' }}&#10;            /&gt;&#10;            &lt;Text style={{ fontSize: 12, color: '#858580', marginTop: 14 }}&gt;对话式工作台：一句话说清商品、目标市场与要 Agent 做的事&lt;/Text&gt;&#10;        &lt;/Box&gt;&#10;&#10;        &lt;Box style={{ width: 464, justifyContent: 'space-between', paddingTop: 10, paddingBottom: 12 }}&gt;&#10;            &lt;Box&gt;&#10;                &lt;Text style={{ fontSize: 12, fontWeight: 500, letterSpacing: 1.6, color: '#858580' }}&gt;每个平台一个独立上架包&lt;/Text&gt;&#10;                &lt;Box style={{ marginTop: 16, gap: 14 }}&gt;&#10;                    &lt;Box style={{ flexDirection: 'row', gap: 14, alignItems: 'flex-start' }}&gt;&#10;                        &lt;Box style={{ width: 30, height: 30, borderRadius: 8, background: '#EFEFEB', justifyContent: 'center', alignItems: 'center' }}&gt;&#10;                            &lt;FAIcon name='file-text' style={{ fill: '#5E6752', width: 15, height: 15 }} /&gt;&#10;                        &lt;/Box&gt;&#10;                        &lt;Box style={{ flex: 1 }}&gt;&#10;                            &lt;Text style={{ fontSize: 16, fontWeight: 600, color: '#20211E' }}&gt;多语言 Listing&lt;/Text&gt;&#10;                            &lt;Text style={{ fontSize: 13, color: '#64645E', lineHeight: 1.5, marginTop: 3 }}&gt;标题 / 五点 / 类目属性，按平台规范重排，不是直译&lt;/Text&gt;&#10;                        &lt;/Box&gt;&#10;                    &lt;/Box&gt;&#10;                    &lt;Box style={{ flexDirection: 'row', gap: 14, alignItems: 'flex-start' }}&gt;&#10;                        &lt;Box style={{ width: 30, height: 30, borderRadius: 8, background: '#EFEFEB', justifyContent: 'center', alignItems: 'center' }}&gt;&#10;                            &lt;FAIcon name='image' style={{ fill: '#5E6752', width: 15, height: 15 }} /&gt;&#10;                        &lt;/Box&gt;&#10;                        &lt;Box style={{ flex: 1 }}&gt;&#10;                            &lt;Text style={{ fontSize: 16, fontWeight: 600, color: '#20211E' }}&gt;规范主图&lt;/Text&gt;&#10;                            &lt;Text style={{ fontSize: 13, color: '#64645E', lineHeight: 1.5, marginTop: 3 }}&gt;以图改图，商品本体不变，只换场景与构图&lt;/Text&gt;&#10;                        &lt;/Box&gt;&#10;                    &lt;/Box&gt;&#10;                    &lt;Box style={{ flexDirection: 'row', gap: 14, alignItems: 'flex-start' }}&gt;&#10;                        &lt;Box style={{ width: 30, height: 30, borderRadius: 8, background: '#EFEFEB', justifyContent: 'center', alignItems: 'center' }}&gt;&#10;                            &lt;FAIcon name='copy' style={{ fill: '#5E6752', width: 15, height: 15 }} /&gt;&#10;                        &lt;/Box&gt;&#10;                        &lt;Box style={{ flex: 1 }}&gt;&#10;                            &lt;Text style={{ fontSize: 16, fontWeight: 600, color: '#20211E' }}&gt;A+ 详情模块&lt;/Text&gt;&#10;                            &lt;Text style={{ fontSize: 13, color: '#64645E', lineHeight: 1.5, marginTop: 3 }}&gt;按各平台模块结构生成并排版&lt;/Text&gt;&#10;                        &lt;/Box&gt;&#10;                    &lt;/Box&gt;&#10;                    &lt;Box style={{ flexDirection: 'row', gap: 14, alignItems: 'flex-start' }}&gt;&#10;                        &lt;Box style={{ width: 30, height: 30, borderRadius: 8, background: '#EFEFEB', justifyContent: 'center', alignItems: 'center' }}&gt;&#10;                            &lt;FAIcon name='table' style={{ fill: '#5E6752', width: 15, height: 15 }} /&gt;&#10;                        &lt;/Box&gt;&#10;                        &lt;Box style={{ flex: 1 }}&gt;&#10;                            &lt;Text style={{ fontSize: 16, fontWeight: 600, color: '#20211E' }}&gt;导入 CSV&lt;/Text&gt;&#10;                            &lt;Text style={{ fontSize: 13, color: '#64645E', lineHeight: 1.5, marginTop: 3 }}&gt;后台可直接导入的字段格式&lt;/Text&gt;&#10;                        &lt;/Box&gt;&#10;                    &lt;/Box&gt;&#10;                    &lt;Box style={{ flexDirection: 'row', gap: 14, alignItems: 'flex-start' }}&gt;&#10;                        &lt;Box style={{ width: 30, height: 30, borderRadius: 8, background: '#EFEFEB', justifyContent: 'center', alignItems: 'center' }}&gt;&#10;                            &lt;FAIcon name='check-circle' style={{ fill: '#5E6752', width: 15, height: 15 }} /&gt;&#10;                        &lt;/Box&gt;&#10;                        &lt;Box style={{ flex: 1 }}&gt;&#10;                            &lt;Text style={{ fontSize: 16, fontWeight: 600, color: '#20211E' }}&gt;合规报告&lt;/Text&gt;&#10;                            &lt;Text style={{ fontSize: 13, color: '#64645E', lineHeight: 1.5, marginTop: 3 }}&gt;47 项确定性校验，逐条留痕&lt;/Text&gt;&#10;                        &lt;/Box&gt;&#10;                    &lt;/Box&gt;&#10;                &lt;/Box&gt;&#10;            &lt;/Box&gt;&#10;&#10;            &lt;Box style={{ background: '#EFEFEB', borderRadius: 10, padding: 22 }}&gt;&#10;                &lt;Box style={{ flexDirection: 'row', alignItems: 'flex-end', gap: 28 }}&gt;&#10;                    &lt;Box&gt;&#10;                        &lt;Text style={{ fontSize: 11, color: '#858580' }}&gt;单平台&lt;/Text&gt;&#10;                        &lt;Box style={{ flexDirection: 'row', alignItems: 'flex-end', gap: 6, marginTop: 6 }}&gt;&#10;                            &lt;Text style={{ fontSize: 34, fontWeight: 700, color: '#5E6752', lineHeight: 1 }}&gt;30&lt;/Text&gt;&#10;                            &lt;Text style={{ fontSize: 14, color: '#64645E', marginBottom: 5 }}&gt;秒&lt;/Text&gt;&#10;                        &lt;/Box&gt;&#10;                    &lt;/Box&gt;&#10;                    &lt;Box style={{ width: 1, height: 34, background: '#DEDED9' }} /&gt;&#10;                    &lt;Box&gt;&#10;                        &lt;Text style={{ fontSize: 11, color: '#858580' }}&gt;五平台&lt;/Text&gt;&#10;                        &lt;Box style={{ flexDirection: 'row', alignItems: 'flex-end', gap: 6, marginTop: 6 }}&gt;&#10;                            &lt;Text style={{ fontSize: 34, fontWeight: 700, color: '#5E6752', lineHeight: 1 }}&gt;90&lt;/Text&gt;&#10;                            &lt;Text style={{ fontSize: 14, color: '#64645E', marginBottom: 5 }}&gt;秒&lt;/Text&gt;&#10;                        &lt;/Box&gt;&#10;                    &lt;/Box&gt;&#10;                &lt;/Box&gt;&#10;                &lt;Text style={{ fontSize: 11, color: '#858580', marginTop: 12, lineHeight: 1.5 }}&gt;已有测试样本下的实测值，非对所有商品与网络环境的普遍保证&lt;/Text&gt;&#10;            &lt;/Box&gt;&#10;        &lt;/Box&gt;&#10;    &lt;/Box&gt;&#10;&#10;    &lt;Box style={{ height: 60, borderTop: '1px solid #DEDED9', flexDirection: 'row', alignItems: 'center', justifyContent: 'space-between' }}&gt;&#10;        &lt;Text style={{ fontSize: 12, color: '#858580', letterSpacing: 0.3 }}&gt;千岸 QianAn · Simon Studio&lt;/Text&gt;&#10;        &lt;Text style={{ fontSize: 12, color: '#858580', letterSpacing: 1.2 }}&gt;03 / 1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35">
                <a:solidFill>
                  <a:srgbClr val="5E6752"/>
                </a:solidFill>
                <a:latin typeface="PingFang SC"/>
                <a:ea typeface="PingFang SC"/>
              </a:rPr>
              <a:t>SOLUTION · </a:t>
            </a:r>
            <a:r>
              <a:rPr lang="zh-CN" sz="900" spc="135">
                <a:solidFill>
                  <a:srgbClr val="5E6752"/>
                </a:solidFill>
                <a:latin typeface="PingFang SC"/>
                <a:ea typeface="PingFang SC"/>
              </a:rPr>
              <a:t>方案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 spc="-30">
                <a:solidFill>
                  <a:srgbClr val="20211E"/>
                </a:solidFill>
                <a:latin typeface="PingFang SC"/>
                <a:ea typeface="PingFang SC"/>
              </a:rPr>
              <a:t>一次输入，五份产出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09600" y="1676400"/>
            <a:ext cx="6096000" cy="3810000"/>
          </a:xfrm>
          <a:prstGeom prst="rect">
            <a:avLst/>
          </a:prstGeom>
          <a:ln w="12700">
            <a:solidFill>
              <a:srgbClr val="DEDED9"/>
            </a:solidFill>
            <a:prstDash val="solid"/>
          </a:ln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609600" y="1676400"/>
            <a:ext cx="6096000" cy="3810000"/>
          </a:xfrm>
          <a:prstGeom prst="roundRect">
            <a:avLst>
              <a:gd name="adj" fmla="val 2500"/>
            </a:avLst>
          </a:prstGeom>
          <a:ln/>
        </p:spPr>
      </p:pic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5619750"/>
            <a:ext cx="609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58580"/>
                </a:solidFill>
                <a:latin typeface="PingFang SC"/>
                <a:ea typeface="PingFang SC"/>
              </a:rPr>
              <a:t>对话式工作台：一句话说清商品、目标市场与要</a:t>
            </a:r>
            <a:r>
              <a:rPr lang="en-US" sz="900">
                <a:solidFill>
                  <a:srgbClr val="858580"/>
                </a:solidFill>
                <a:latin typeface="PingFang SC"/>
                <a:ea typeface="PingFang SC"/>
              </a:rPr>
              <a:t> Agent </a:t>
            </a:r>
            <a:r>
              <a:rPr lang="zh-CN" sz="900">
                <a:solidFill>
                  <a:srgbClr val="858580"/>
                </a:solidFill>
                <a:latin typeface="PingFang SC"/>
                <a:ea typeface="PingFang SC"/>
              </a:rPr>
              <a:t>做的事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62800" y="1238250"/>
            <a:ext cx="4419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120">
                <a:solidFill>
                  <a:srgbClr val="858580"/>
                </a:solidFill>
                <a:latin typeface="PingFang SC"/>
                <a:ea typeface="PingFang SC"/>
              </a:rPr>
              <a:t>每个平台一个独立上架包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162800" y="153352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FEFEB"/>
          </a:solidFill>
          <a:ln/>
        </p:spPr>
        <p:txBody>
          <a:bodyPr/>
          <a:p/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239000" y="1609725"/>
            <a:ext cx="142875" cy="142875"/>
          </a:xfrm>
          <a:prstGeom prst="rect">
            <a:avLst/>
          </a:prstGeom>
          <a:ln/>
        </p:spPr>
      </p:pic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7581900" y="1533525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11E"/>
                </a:solidFill>
                <a:latin typeface="PingFang SC"/>
                <a:ea typeface="PingFang SC"/>
              </a:rPr>
              <a:t>多语言</a:t>
            </a:r>
            <a:r>
              <a:rPr lang="en-US" sz="1200" b="1">
                <a:solidFill>
                  <a:srgbClr val="20211E"/>
                </a:solidFill>
                <a:latin typeface="PingFang SC"/>
                <a:ea typeface="PingFang SC"/>
              </a:rPr>
              <a:t> Listing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581900" y="175260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标题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 / 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五点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 / 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类目属性，按平台规范重排，不是直译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7162800" y="211455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FEFEB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239000" y="2190750"/>
            <a:ext cx="142875" cy="142875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581900" y="2114550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11E"/>
                </a:solidFill>
                <a:latin typeface="PingFang SC"/>
                <a:ea typeface="PingFang SC"/>
              </a:rPr>
              <a:t>规范主图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581900" y="2333625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以图改图，商品本体不变，只换场景与构图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7162800" y="269557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FEFEB"/>
          </a:solidFill>
          <a:ln/>
        </p:spPr>
        <p:txBody>
          <a:bodyPr/>
          <a:p/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239000" y="2771775"/>
            <a:ext cx="142875" cy="142875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581900" y="2695575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0211E"/>
                </a:solidFill>
                <a:latin typeface="PingFang SC"/>
                <a:ea typeface="PingFang SC"/>
              </a:rPr>
              <a:t>A+ </a:t>
            </a:r>
            <a:r>
              <a:rPr lang="zh-CN" sz="1200" b="1">
                <a:solidFill>
                  <a:srgbClr val="20211E"/>
                </a:solidFill>
                <a:latin typeface="PingFang SC"/>
                <a:ea typeface="PingFang SC"/>
              </a:rPr>
              <a:t>详情模块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581900" y="291465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按各平台模块结构生成并排版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162800" y="3276600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FEFEB"/>
          </a:solidFill>
          <a:ln/>
        </p:spPr>
        <p:txBody>
          <a:bodyPr/>
          <a:p/>
        </p:txBody>
      </p:sp>
      <p:pic>
        <p:nvPicPr>
          <p:cNvPr id="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239000" y="3352800"/>
            <a:ext cx="142875" cy="142875"/>
          </a:xfrm>
          <a:prstGeom prst="rect">
            <a:avLst/>
          </a:prstGeom>
          <a:ln/>
        </p:spPr>
      </p:pic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7581900" y="3276600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11E"/>
                </a:solidFill>
                <a:latin typeface="PingFang SC"/>
                <a:ea typeface="PingFang SC"/>
              </a:rPr>
              <a:t>导入</a:t>
            </a:r>
            <a:r>
              <a:rPr lang="en-US" sz="1200" b="1">
                <a:solidFill>
                  <a:srgbClr val="20211E"/>
                </a:solidFill>
                <a:latin typeface="PingFang SC"/>
                <a:ea typeface="PingFang SC"/>
              </a:rPr>
              <a:t> CSV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581900" y="3495675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后台可直接导入的字段格式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7162800" y="3857625"/>
            <a:ext cx="285750" cy="285750"/>
          </a:xfrm>
          <a:prstGeom prst="roundRect">
            <a:avLst>
              <a:gd name="adj" fmla="val 26667"/>
            </a:avLst>
          </a:prstGeom>
          <a:solidFill>
            <a:srgbClr val="EFEFEB"/>
          </a:solidFill>
          <a:ln/>
        </p:spPr>
        <p:txBody>
          <a:bodyPr/>
          <a:p/>
        </p:txBody>
      </p:sp>
      <p:pic>
        <p:nvPicPr>
          <p:cNvPr id="8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239000" y="3933825"/>
            <a:ext cx="142875" cy="142875"/>
          </a:xfrm>
          <a:prstGeom prst="rect">
            <a:avLst/>
          </a:prstGeom>
          <a:ln/>
        </p:spPr>
      </p:pic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581900" y="3857625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211E"/>
                </a:solidFill>
                <a:latin typeface="PingFang SC"/>
                <a:ea typeface="PingFang SC"/>
              </a:rPr>
              <a:t>合规报告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7581900" y="4076700"/>
            <a:ext cx="40005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47 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项确定性校验，逐条留痕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7162800" y="4867275"/>
            <a:ext cx="4419600" cy="1304925"/>
          </a:xfrm>
          <a:prstGeom prst="roundRect">
            <a:avLst>
              <a:gd name="adj" fmla="val 7299"/>
            </a:avLst>
          </a:prstGeom>
          <a:solidFill>
            <a:srgbClr val="EFEFEB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7372350" y="507682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58580"/>
                </a:solidFill>
                <a:latin typeface="PingFang SC"/>
                <a:ea typeface="PingFang SC"/>
              </a:rPr>
              <a:t>单平台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372350" y="5267325"/>
            <a:ext cx="3905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5E6752"/>
                </a:solidFill>
                <a:latin typeface="PingFang SC"/>
                <a:ea typeface="PingFang SC"/>
              </a:rPr>
              <a:t>30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820025" y="54483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秒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8220075" y="5334000"/>
            <a:ext cx="9525" cy="323850"/>
          </a:xfrm>
          <a:prstGeom prst="rect">
            <a:avLst/>
          </a:prstGeom>
          <a:solidFill>
            <a:srgbClr val="DEDED9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496300" y="507682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58580"/>
                </a:solidFill>
                <a:latin typeface="PingFang SC"/>
                <a:ea typeface="PingFang SC"/>
              </a:rPr>
              <a:t>五平台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8496300" y="5267325"/>
            <a:ext cx="3905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5E6752"/>
                </a:solidFill>
                <a:latin typeface="PingFang SC"/>
                <a:ea typeface="PingFang SC"/>
              </a:rPr>
              <a:t>90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943975" y="54483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秒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372350" y="5772150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858580"/>
                </a:solidFill>
                <a:latin typeface="PingFang SC"/>
                <a:ea typeface="PingFang SC"/>
              </a:rPr>
              <a:t>已有测试样本下的实测值，非对所有商品与网络环境的普遍保证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09600" y="62865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">
                <a:solidFill>
                  <a:srgbClr val="858580"/>
                </a:solidFill>
                <a:latin typeface="PingFang SC"/>
                <a:ea typeface="PingFang SC"/>
              </a:rPr>
              <a:t>千岸</a:t>
            </a:r>
            <a:r>
              <a:rPr lang="en-US" sz="900" spc="22">
                <a:solidFill>
                  <a:srgbClr val="858580"/>
                </a:solidFill>
                <a:latin typeface="PingFang SC"/>
                <a:ea typeface="PingFang SC"/>
              </a:rPr>
              <a:t> QianAn · Simon Studio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58580"/>
                </a:solidFill>
                <a:latin typeface="PingFang SC"/>
                <a:ea typeface="PingFang SC"/>
              </a:rPr>
              <a:t>03 / 10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98" name="" descr="&lt;Slide style={{ width: 1280, height: 720, background: '#F7F7F5', padding: '32px 64px 0 64px', fontFamily: 'PingFang SC' }}&gt;&#10;    &lt;Box style={{ height: 88 }}&gt;&#10;        &lt;Text style={{ fontSize: 12, fontWeight: 500, letterSpacing: 1.8, color: '#5E6752' }}&gt;AGENTIC · 能力证据&lt;/Text&gt;&#10;        &lt;Text style={{ fontSize: 32, fontWeight: 700, color: '#20211E', letterSpacing: -0.4, marginTop: 6, lineHeight: 1.25 }}&gt;为什么是 Agent，不是提示词包装&lt;/Text&gt;&#10;    &lt;/Box&gt;&#10;&#10;    &lt;Box style={{ height: 540, flexDirection: 'row', gap: 48 }}&gt;&#10;        &lt;Box style={{&#10;            width: 350,&#10;            background: '#EFEFEB',&#10;            borderRadius: 12,&#10;            padding: 30,&#10;            justifyContent: 'space-between',&#10;        }}&gt;&#10;            &lt;Box&gt;&#10;                &lt;Box style={{ width: 40, height: 2, background: '#5E6752', marginBottom: 20 }} /&gt;&#10;                &lt;Text style={{ fontSize: 11, letterSpacing: 2, color: '#5E6752' }}&gt;FOUR CAPABILITIES&lt;/Text&gt;&#10;                &lt;Text style={{ fontSize: 25, fontWeight: 700, color: '#20211E', lineHeight: 1.42, marginTop: 18 }}&gt;&#10;                    判断一个产品&lt;br /&gt;是不是 Agent，&lt;br /&gt;别看它宣传了什么，&lt;br /&gt;看它运行时&lt;br /&gt;留下了什么痕。&#10;                &lt;/Text&gt;&#10;            &lt;/Box&gt;&#10;            &lt;Box&gt;&#10;                &lt;Text style={{ fontSize: 12, color: '#64645E', lineHeight: 1.7 }}&gt;&#10;                    以下四项全部是运行时留痕，&lt;br /&gt;不是事后编排的演示脚本。&#10;                &lt;/Text&gt;&#10;            &lt;/Box&gt;&#10;        &lt;/Box&gt;&#10;&#10;        &lt;Box style={{ width: 754, justifyContent: 'space-between' }}&gt;&#10;            &lt;Box style={{ flex: 1, flexDirection: 'row', gap: 20, borderBottom: '1px solid #DEDED9', paddingBottom: 14 }}&gt;&#10;                &lt;Text style={{ fontSize: 13, fontWeight: 700, color: '#5E6752', width: 26, paddingTop: 4 }}&gt;01&lt;/Text&gt;&#10;                &lt;Box style={{ flex: 1 }}&gt;&#10;                    &lt;Box style={{ flexDirection: 'row', alignItems: 'baseline', gap: 12 }}&gt;&#10;                        &lt;Text style={{ fontSize: 19, fontWeight: 600, color: '#20211E' }}&gt;自主规划&lt;/Text&gt;&#10;                        &lt;Text style={{ fontSize: 11, color: '#858580', letterSpacing: 1 }}&gt;PLANNING&lt;/Text&gt;&#10;                    &lt;/Box&gt;&#10;                    &lt;Text style={{ fontSize: 14, color: '#64645E', lineHeight: 1.55, marginTop: 7 }}&gt;决策前自己去查欧盟 GPSR 准入、竞品价格带、平台热搜，再提交策略与自愈预算。&lt;/Text&gt;&#10;                    &lt;Text style={{ fontSize: 12, color: '#5E6752', marginTop: 8, lineHeight: 1.4 }}&gt;证据 · task.plan / research_tools[] / decided_by / heal_budget&lt;/Text&gt;&#10;                &lt;/Box&gt;&#10;            &lt;/Box&gt;&#10;&#10;            &lt;Box style={{ flex: 1, flexDirection: 'row', gap: 20, borderBottom: '1px solid #DEDED9', paddingBottom: 14, paddingTop: 14 }}&gt;&#10;                &lt;Text style={{ fontSize: 13, fontWeight: 700, color: '#5E6752', width: 26, paddingTop: 4 }}&gt;02&lt;/Text&gt;&#10;                &lt;Box style={{ flex: 1 }}&gt;&#10;                    &lt;Box style={{ flexDirection: 'row', alignItems: 'baseline', gap: 12 }}&gt;&#10;                        &lt;Text style={{ fontSize: 19, fontWeight: 600, color: '#20211E' }}&gt;工具调用&lt;/Text&gt;&#10;                        &lt;Text style={{ fontSize: 11, color: '#858580', letterSpacing: 1 }}&gt;TOOL USE&lt;/Text&gt;&#10;                    &lt;/Box&gt;&#10;                    &lt;Text style={{ fontSize: 14, color: '#64645E', lineHeight: 1.55, marginTop: 7 }}&gt;真实 function calling 循环，模型自己决定调什么工具；轮数与墙钟双熔断，单工具失败不炸循环。&lt;/Text&gt;&#10;                    &lt;Text style={{ fontSize: 12, color: '#5E6752', marginTop: 8, lineHeight: 1.4 }}&gt;证据 · task.trace 实时滚动，含每次调用的参数与结果&lt;/Text&gt;&#10;                &lt;/Box&gt;&#10;            &lt;/Box&gt;&#10;&#10;            &lt;Box style={{ flex: 1, flexDirection: 'row', gap: 20, borderBottom: '1px solid #DEDED9', paddingBottom: 14, paddingTop: 14 }}&gt;&#10;                &lt;Text style={{ fontSize: 13, fontWeight: 700, color: '#5E6752', width: 26, paddingTop: 4 }}&gt;03&lt;/Text&gt;&#10;                &lt;Box style={{ flex: 1 }}&gt;&#10;                    &lt;Box style={{ flexDirection: 'row', alignItems: 'baseline', gap: 12 }}&gt;&#10;                        &lt;Text style={{ fontSize: 19, fontWeight: 600, color: '#20211E' }}&gt;长期记忆&lt;/Text&gt;&#10;                        &lt;Text style={{ fontSize: 11, color: '#858580', letterSpacing: 1 }}&gt;MEMORY&lt;/Text&gt;&#10;                    &lt;/Box&gt;&#10;                    &lt;Text style={{ fontSize: 14, color: '#64645E', lineHeight: 1.55, marginTop: 7 }}&gt;教训按「平台 × 类目」存成 JSONL，下次生成前召回 top-3 注入提示词，用完回写命中次数。&lt;/Text&gt;&#10;                    &lt;Text style={{ fontSize: 12, color: '#5E6752', marginTop: 8, lineHeight: 1.4 }}&gt;证据 · task.memory_recall[] / hit_count（当前最高单条已复用 80+ 次）&lt;/Text&gt;&#10;                &lt;/Box&gt;&#10;            &lt;/Box&gt;&#10;&#10;            &lt;Box style={{ flex: 1, flexDirection: 'row', gap: 20, paddingTop: 14 }}&gt;&#10;                &lt;Text style={{ fontSize: 13, fontWeight: 700, color: '#5E6752', width: 26, paddingTop: 4 }}&gt;04&lt;/Text&gt;&#10;                &lt;Box style={{ flex: 1 }}&gt;&#10;                    &lt;Box style={{ flexDirection: 'row', alignItems: 'baseline', gap: 12 }}&gt;&#10;                        &lt;Text style={{ fontSize: 19, fontWeight: 600, color: '#20211E' }}&gt;反思迭代&lt;/Text&gt;&#10;                        &lt;Text style={{ fontSize: 11, color: '#858580', letterSpacing: 1 }}&gt;REFLECTION&lt;/Text&gt;&#10;                    &lt;/Box&gt;&#10;                    &lt;Text style={{ fontSize: 14, color: '#64645E', lineHeight: 1.55, marginTop: 7 }}&gt;内环：合规 error 自动回炉修订并复检；外环：反思 Agent 蒸馏教训回写记忆库。&lt;/Text&gt;&#10;                    &lt;Text style={{ fontSize: 12, color: '#5E6752', marginTop: 8, lineHeight: 1.4 }}&gt;证据 · task.reflections[] / 各平台 revised_count / heal_budget 消耗&lt;/Text&gt;&#10;                &lt;/Box&gt;&#10;            &lt;/Box&gt;&#10;        &lt;/Box&gt;&#10;    &lt;/Box&gt;&#10;&#10;    &lt;Box style={{ height: 60, borderTop: '1px solid #DEDED9', flexDirection: 'row', alignItems: 'center', justifyContent: 'space-between' }}&gt;&#10;        &lt;Text style={{ fontSize: 12, color: '#858580', letterSpacing: 0.3 }}&gt;千岸 QianAn · Simon Studio&lt;/Text&gt;&#10;        &lt;Text style={{ fontSize: 12, color: '#858580', letterSpacing: 1.2 }}&gt;04 / 1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35">
                <a:solidFill>
                  <a:srgbClr val="5E6752"/>
                </a:solidFill>
                <a:latin typeface="PingFang SC"/>
                <a:ea typeface="PingFang SC"/>
              </a:rPr>
              <a:t>AGENTIC · </a:t>
            </a:r>
            <a:r>
              <a:rPr lang="zh-CN" sz="900" spc="135">
                <a:solidFill>
                  <a:srgbClr val="5E6752"/>
                </a:solidFill>
                <a:latin typeface="PingFang SC"/>
                <a:ea typeface="PingFang SC"/>
              </a:rPr>
              <a:t>能力证据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 spc="-30">
                <a:solidFill>
                  <a:srgbClr val="20211E"/>
                </a:solidFill>
                <a:latin typeface="PingFang SC"/>
                <a:ea typeface="PingFang SC"/>
              </a:rPr>
              <a:t>为什么是</a:t>
            </a:r>
            <a:r>
              <a:rPr lang="en-US" sz="2400" b="1" spc="-30">
                <a:solidFill>
                  <a:srgbClr val="20211E"/>
                </a:solidFill>
                <a:latin typeface="PingFang SC"/>
                <a:ea typeface="PingFang SC"/>
              </a:rPr>
              <a:t> Agent</a:t>
            </a:r>
            <a:r>
              <a:rPr lang="zh-CN" sz="2400" b="1" spc="-30">
                <a:solidFill>
                  <a:srgbClr val="20211E"/>
                </a:solidFill>
                <a:latin typeface="PingFang SC"/>
                <a:ea typeface="PingFang SC"/>
              </a:rPr>
              <a:t>，不是提示词包装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1143000"/>
            <a:ext cx="3333750" cy="5143500"/>
          </a:xfrm>
          <a:prstGeom prst="roundRect">
            <a:avLst>
              <a:gd name="adj" fmla="val 3429"/>
            </a:avLst>
          </a:prstGeom>
          <a:solidFill>
            <a:srgbClr val="EFEFEB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895350" y="1428750"/>
            <a:ext cx="381000" cy="19050"/>
          </a:xfrm>
          <a:prstGeom prst="rect">
            <a:avLst/>
          </a:prstGeom>
          <a:solidFill>
            <a:srgbClr val="5E6752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95350" y="1638300"/>
            <a:ext cx="2762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5E6752"/>
                </a:solidFill>
                <a:latin typeface="PingFang SC"/>
                <a:ea typeface="PingFang SC"/>
              </a:rPr>
              <a:t>FOUR CAPABILITIES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895350" y="1943100"/>
            <a:ext cx="2762250" cy="2028825"/>
          </a:xfrm>
          <a:prstGeom prst="rect"/>
        </p:spPr>
        <p:txBody>
          <a:bodyPr wrap="none" lIns="0" tIns="0" rIns="0" bIns="0"/>
          <a:p>
            <a:pPr>
              <a:lnSpc>
                <a:spcPct val="142000"/>
              </a:lnSpc>
            </a:pPr>
            <a:r>
              <a:rPr lang="zh-CN" sz="1875" b="1">
                <a:solidFill>
                  <a:srgbClr val="20211E"/>
                </a:solidFill>
                <a:latin typeface="PingFang SC"/>
                <a:ea typeface="PingFang SC"/>
              </a:rPr>
              <a:t>判断一个产品</a:t>
            </a:r>
            <a:endParaRPr/>
          </a:p>
          <a:p>
            <a:pPr>
              <a:lnSpc>
                <a:spcPct val="142000"/>
              </a:lnSpc>
            </a:pPr>
            <a:r>
              <a:rPr lang="zh-CN" sz="1875" b="1">
                <a:solidFill>
                  <a:srgbClr val="20211E"/>
                </a:solidFill>
                <a:latin typeface="PingFang SC"/>
                <a:ea typeface="PingFang SC"/>
              </a:rPr>
              <a:t>是不是</a:t>
            </a:r>
            <a:r>
              <a:rPr lang="en-US" sz="1875" b="1">
                <a:solidFill>
                  <a:srgbClr val="20211E"/>
                </a:solidFill>
                <a:latin typeface="PingFang SC"/>
                <a:ea typeface="PingFang SC"/>
              </a:rPr>
              <a:t> Agent</a:t>
            </a:r>
            <a:r>
              <a:rPr lang="zh-CN" sz="1875" b="1">
                <a:solidFill>
                  <a:srgbClr val="20211E"/>
                </a:solidFill>
                <a:latin typeface="PingFang SC"/>
                <a:ea typeface="PingFang SC"/>
              </a:rPr>
              <a:t>，</a:t>
            </a:r>
            <a:endParaRPr/>
          </a:p>
          <a:p>
            <a:pPr>
              <a:lnSpc>
                <a:spcPct val="142000"/>
              </a:lnSpc>
            </a:pPr>
            <a:r>
              <a:rPr lang="zh-CN" sz="1875" b="1">
                <a:solidFill>
                  <a:srgbClr val="20211E"/>
                </a:solidFill>
                <a:latin typeface="PingFang SC"/>
                <a:ea typeface="PingFang SC"/>
              </a:rPr>
              <a:t>别看它宣传了什么，</a:t>
            </a:r>
            <a:endParaRPr/>
          </a:p>
          <a:p>
            <a:pPr>
              <a:lnSpc>
                <a:spcPct val="142000"/>
              </a:lnSpc>
            </a:pPr>
            <a:r>
              <a:rPr lang="zh-CN" sz="1875" b="1">
                <a:solidFill>
                  <a:srgbClr val="20211E"/>
                </a:solidFill>
                <a:latin typeface="PingFang SC"/>
                <a:ea typeface="PingFang SC"/>
              </a:rPr>
              <a:t>看它运行时</a:t>
            </a:r>
            <a:endParaRPr/>
          </a:p>
          <a:p>
            <a:pPr>
              <a:lnSpc>
                <a:spcPct val="142000"/>
              </a:lnSpc>
            </a:pPr>
            <a:r>
              <a:rPr lang="zh-CN" sz="1875" b="1">
                <a:solidFill>
                  <a:srgbClr val="20211E"/>
                </a:solidFill>
                <a:latin typeface="PingFang SC"/>
                <a:ea typeface="PingFang SC"/>
              </a:rPr>
              <a:t>留下了什么痕。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895350" y="5534025"/>
            <a:ext cx="276225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64645E"/>
                </a:solidFill>
                <a:latin typeface="PingFang SC"/>
                <a:ea typeface="PingFang SC"/>
              </a:rPr>
              <a:t>以下四项全部是运行时留痕，</a:t>
            </a:r>
            <a:endParaRPr/>
          </a:p>
          <a:p>
            <a:pPr>
              <a:lnSpc>
                <a:spcPct val="170000"/>
              </a:lnSpc>
            </a:pPr>
            <a:r>
              <a:rPr lang="zh-CN" sz="900">
                <a:solidFill>
                  <a:srgbClr val="64645E"/>
                </a:solidFill>
                <a:latin typeface="PingFang SC"/>
                <a:ea typeface="PingFang SC"/>
              </a:rPr>
              <a:t>不是事后编排的演示脚本。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4400550" y="1143000"/>
            <a:ext cx="7181850" cy="1228725"/>
          </a:xfrm>
          <a:custGeom>
            <a:pathLst>
              <a:path w="754" h="129">
                <a:moveTo>
                  <a:pt x="0" y="128"/>
                </a:moveTo>
                <a:lnTo>
                  <a:pt x="754" y="128"/>
                </a:lnTo>
                <a:lnTo>
                  <a:pt x="754" y="129"/>
                </a:lnTo>
                <a:lnTo>
                  <a:pt x="0" y="129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400550" y="1143000"/>
            <a:ext cx="247650" cy="1076325"/>
          </a:xfrm>
          <a:prstGeom prst="rect"/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E6752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4838700" y="11430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11E"/>
                </a:solidFill>
                <a:latin typeface="PingFang SC"/>
                <a:ea typeface="PingFang SC"/>
              </a:rPr>
              <a:t>自主规划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5676900" y="1143000"/>
            <a:ext cx="609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858580"/>
                </a:solidFill>
                <a:latin typeface="PingFang SC"/>
                <a:ea typeface="PingFang SC"/>
              </a:rPr>
              <a:t>PLANNING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838700" y="1428750"/>
            <a:ext cx="6743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决策前自己去查欧盟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 GPSR 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准入、竞品价格带、平台热搜，再提交策略与自愈预算。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4838700" y="1762125"/>
            <a:ext cx="6743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E6752"/>
                </a:solidFill>
                <a:latin typeface="PingFang SC"/>
                <a:ea typeface="PingFang SC"/>
              </a:rPr>
              <a:t>证据</a:t>
            </a:r>
            <a:r>
              <a:rPr lang="en-US" sz="900">
                <a:solidFill>
                  <a:srgbClr val="5E6752"/>
                </a:solidFill>
                <a:latin typeface="PingFang SC"/>
                <a:ea typeface="PingFang SC"/>
              </a:rPr>
              <a:t> · task.plan / research_tools[] / decided_by / heal_budget</a:t>
            </a:r>
            <a:endParaRPr/>
          </a:p>
        </p:txBody>
      </p:sp>
      <p:sp>
        <p:nvSpPr>
          <p:cNvPr id="113" name=""/>
          <p:cNvSpPr/>
          <p:nvPr/>
        </p:nvSpPr>
        <p:spPr>
          <a:xfrm rot="0" flipH="0" flipV="0">
            <a:off x="4400550" y="2362200"/>
            <a:ext cx="7181850" cy="1371600"/>
          </a:xfrm>
          <a:custGeom>
            <a:pathLst>
              <a:path w="754" h="144">
                <a:moveTo>
                  <a:pt x="0" y="143"/>
                </a:moveTo>
                <a:lnTo>
                  <a:pt x="754" y="143"/>
                </a:lnTo>
                <a:lnTo>
                  <a:pt x="754" y="144"/>
                </a:lnTo>
                <a:lnTo>
                  <a:pt x="0" y="144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4400550" y="2495550"/>
            <a:ext cx="247650" cy="1085850"/>
          </a:xfrm>
          <a:prstGeom prst="rect"/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E6752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838700" y="24955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11E"/>
                </a:solidFill>
                <a:latin typeface="PingFang SC"/>
                <a:ea typeface="PingFang SC"/>
              </a:rPr>
              <a:t>工具调用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676900" y="2495550"/>
            <a:ext cx="609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858580"/>
                </a:solidFill>
                <a:latin typeface="PingFang SC"/>
                <a:ea typeface="PingFang SC"/>
              </a:rPr>
              <a:t>TOOL USE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838700" y="2781300"/>
            <a:ext cx="6743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真实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 function calling 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循环，模型自己决定调什么工具；轮数与墙钟双熔断，单工具失败不炸循环。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4838700" y="3114675"/>
            <a:ext cx="6743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E6752"/>
                </a:solidFill>
                <a:latin typeface="PingFang SC"/>
                <a:ea typeface="PingFang SC"/>
              </a:rPr>
              <a:t>证据</a:t>
            </a:r>
            <a:r>
              <a:rPr lang="en-US" sz="900">
                <a:solidFill>
                  <a:srgbClr val="5E6752"/>
                </a:solidFill>
                <a:latin typeface="PingFang SC"/>
                <a:ea typeface="PingFang SC"/>
              </a:rPr>
              <a:t> · task.trace </a:t>
            </a:r>
            <a:r>
              <a:rPr lang="zh-CN" sz="900">
                <a:solidFill>
                  <a:srgbClr val="5E6752"/>
                </a:solidFill>
                <a:latin typeface="PingFang SC"/>
                <a:ea typeface="PingFang SC"/>
              </a:rPr>
              <a:t>实时滚动，含每次调用的参数与结果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4400550" y="3724275"/>
            <a:ext cx="7181850" cy="1362075"/>
          </a:xfrm>
          <a:custGeom>
            <a:pathLst>
              <a:path w="754" h="143">
                <a:moveTo>
                  <a:pt x="0" y="142"/>
                </a:moveTo>
                <a:lnTo>
                  <a:pt x="754" y="142"/>
                </a:lnTo>
                <a:lnTo>
                  <a:pt x="754" y="143"/>
                </a:lnTo>
                <a:lnTo>
                  <a:pt x="0" y="143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400550" y="3857625"/>
            <a:ext cx="247650" cy="1076325"/>
          </a:xfrm>
          <a:prstGeom prst="rect"/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E6752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838700" y="38576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11E"/>
                </a:solidFill>
                <a:latin typeface="PingFang SC"/>
                <a:ea typeface="PingFang SC"/>
              </a:rPr>
              <a:t>长期记忆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676900" y="38576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858580"/>
                </a:solidFill>
                <a:latin typeface="PingFang SC"/>
                <a:ea typeface="PingFang SC"/>
              </a:rPr>
              <a:t>MEMORY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838700" y="4143375"/>
            <a:ext cx="6743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教训按「平台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 × 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类目」存成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 JSONL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，下次生成前召回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 top-3 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注入提示词，用完回写命中次数。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838700" y="4476750"/>
            <a:ext cx="6743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E6752"/>
                </a:solidFill>
                <a:latin typeface="PingFang SC"/>
                <a:ea typeface="PingFang SC"/>
              </a:rPr>
              <a:t>证据</a:t>
            </a:r>
            <a:r>
              <a:rPr lang="en-US" sz="900">
                <a:solidFill>
                  <a:srgbClr val="5E6752"/>
                </a:solidFill>
                <a:latin typeface="PingFang SC"/>
                <a:ea typeface="PingFang SC"/>
              </a:rPr>
              <a:t> · task.memory_recall[] / hit_count</a:t>
            </a:r>
            <a:r>
              <a:rPr lang="zh-CN" sz="900">
                <a:solidFill>
                  <a:srgbClr val="5E6752"/>
                </a:solidFill>
                <a:latin typeface="PingFang SC"/>
                <a:ea typeface="PingFang SC"/>
              </a:rPr>
              <a:t>（当前最高单条已复用</a:t>
            </a:r>
            <a:r>
              <a:rPr lang="en-US" sz="900">
                <a:solidFill>
                  <a:srgbClr val="5E6752"/>
                </a:solidFill>
                <a:latin typeface="PingFang SC"/>
                <a:ea typeface="PingFang SC"/>
              </a:rPr>
              <a:t> 80+ </a:t>
            </a:r>
            <a:r>
              <a:rPr lang="zh-CN" sz="900">
                <a:solidFill>
                  <a:srgbClr val="5E6752"/>
                </a:solidFill>
                <a:latin typeface="PingFang SC"/>
                <a:ea typeface="PingFang SC"/>
              </a:rPr>
              <a:t>次）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4400550" y="5210175"/>
            <a:ext cx="247650" cy="1076325"/>
          </a:xfrm>
          <a:prstGeom prst="rect"/>
        </p:spPr>
        <p:txBody>
          <a:bodyPr wrap="none" lIns="0" tIns="28575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5E6752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4838700" y="521017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211E"/>
                </a:solidFill>
                <a:latin typeface="PingFang SC"/>
                <a:ea typeface="PingFang SC"/>
              </a:rPr>
              <a:t>反思迭代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5676900" y="5210175"/>
            <a:ext cx="7524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75">
                <a:solidFill>
                  <a:srgbClr val="858580"/>
                </a:solidFill>
                <a:latin typeface="PingFang SC"/>
                <a:ea typeface="PingFang SC"/>
              </a:rPr>
              <a:t>REFLECTION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838700" y="5495925"/>
            <a:ext cx="67437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内环：合规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 error 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自动回炉修订并复检；外环：反思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 Agent 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蒸馏教训回写记忆库。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4838700" y="5829300"/>
            <a:ext cx="6743700" cy="2000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900">
                <a:solidFill>
                  <a:srgbClr val="5E6752"/>
                </a:solidFill>
                <a:latin typeface="PingFang SC"/>
                <a:ea typeface="PingFang SC"/>
              </a:rPr>
              <a:t>证据</a:t>
            </a:r>
            <a:r>
              <a:rPr lang="en-US" sz="900">
                <a:solidFill>
                  <a:srgbClr val="5E6752"/>
                </a:solidFill>
                <a:latin typeface="PingFang SC"/>
                <a:ea typeface="PingFang SC"/>
              </a:rPr>
              <a:t> · task.reflections[] / </a:t>
            </a:r>
            <a:r>
              <a:rPr lang="zh-CN" sz="900">
                <a:solidFill>
                  <a:srgbClr val="5E6752"/>
                </a:solidFill>
                <a:latin typeface="PingFang SC"/>
                <a:ea typeface="PingFang SC"/>
              </a:rPr>
              <a:t>各平台</a:t>
            </a:r>
            <a:r>
              <a:rPr lang="en-US" sz="900">
                <a:solidFill>
                  <a:srgbClr val="5E6752"/>
                </a:solidFill>
                <a:latin typeface="PingFang SC"/>
                <a:ea typeface="PingFang SC"/>
              </a:rPr>
              <a:t> revised_count / heal_budget </a:t>
            </a:r>
            <a:r>
              <a:rPr lang="zh-CN" sz="900">
                <a:solidFill>
                  <a:srgbClr val="5E6752"/>
                </a:solidFill>
                <a:latin typeface="PingFang SC"/>
                <a:ea typeface="PingFang SC"/>
              </a:rPr>
              <a:t>消耗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09600" y="62865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">
                <a:solidFill>
                  <a:srgbClr val="858580"/>
                </a:solidFill>
                <a:latin typeface="PingFang SC"/>
                <a:ea typeface="PingFang SC"/>
              </a:rPr>
              <a:t>千岸</a:t>
            </a:r>
            <a:r>
              <a:rPr lang="en-US" sz="900" spc="22">
                <a:solidFill>
                  <a:srgbClr val="858580"/>
                </a:solidFill>
                <a:latin typeface="PingFang SC"/>
                <a:ea typeface="PingFang SC"/>
              </a:rPr>
              <a:t> QianAn · Simon Studio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58580"/>
                </a:solidFill>
                <a:latin typeface="PingFang SC"/>
                <a:ea typeface="PingFang SC"/>
              </a:rPr>
              <a:t>04 / 10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33" name="" descr="&lt;Slide style={{ width: 1280, height: 720, background: '#F7F7F5', padding: '32px 64px 0 64px', fontFamily: 'PingFang SC' }}&gt;&#10;    &lt;Box style={{ height: 88 }}&gt;&#10;        &lt;Text style={{ fontSize: 12, fontWeight: 500, letterSpacing: 1.8, color: '#5E6752' }}&gt;ARCHITECTURE · 架构&lt;/Text&gt;&#10;        &lt;Text style={{ fontSize: 32, fontWeight: 700, color: '#20211E', letterSpacing: -0.4, marginTop: 6, lineHeight: 1.25 }}&gt;合规判定，不交给模型&lt;/Text&gt;&#10;    &lt;/Box&gt;&#10;&#10;    &lt;Box style={{ height: 540, flexDirection: 'row', gap: 32 }}&gt;&#10;        &lt;Box style={{ width: 680, justifyContent: 'center' }}&gt;&#10;            &lt;svg width={680} height={400} viewBox='0 0 680 400'&gt;&#10;                &lt;rect x='0' y='4' width='680' height='46' rx='8' fill='#FFFFFF' stroke='#DEDED9' strokeWidth='1' /&gt;&#10;                &lt;text x='340' y='27' textAnchor='middle' fontSize='12.5' fontWeight='600' fill='#20211E'&gt;一张商品图 + 一段中文卖点&lt;/text&gt;&#10;                &lt;text x='340' y='42' textAnchor='middle' fontSize='10.5' fill='#858580'&gt;卖家自有素材，不爬平台数据&lt;/text&gt;&#10;&#10;                &lt;line x1='340' y1='50' x2='340' y2='66' stroke='#C9CAC2' strokeWidth='1.5' /&gt;&#10;                &lt;polygon points='340,74 334,65 346,65' fill='#C9CAC2' /&gt;&#10;&#10;                &lt;rect x='0' y='74' width='680' height='54' rx='8' fill='#FFFFFF' stroke='#DEDED9' strokeWidth='1' /&gt;&#10;                &lt;rect x='0' y='74' width='4' height='54' rx='2' fill='#5E6752' /&gt;&#10;                &lt;text x='20' y='98' fontSize='13' fontWeight='700' fill='#20211E'&gt;主控编排 · plan_task&lt;/text&gt;&#10;                &lt;text x='20' y='116' fontSize='10.5' fill='#64645E'&gt;先调研（欧盟 GPSR 准入 / 竞品价格带 / 平台热搜），再决策策略与自愈预算&lt;/text&gt;&#10;&#10;                &lt;line x1='340' y1='128' x2='340' y2='144' stroke='#C9CAC2' strokeWidth='1.5' /&gt;&#10;                &lt;polygon points='340,152 334,143 346,143' fill='#C9CAC2' /&gt;&#10;&#10;                &lt;rect x='0' y='152' width='106' height='72' rx='8' fill='#FFFFFF' stroke='#DEDED9' strokeWidth='1' /&gt;&#10;                &lt;text x='53' y='194' textAnchor='middle' fontSize='11.5' fill='#20211E'&gt;商品理解&lt;/text&gt;&#10;&#10;                &lt;rect x='114.8' y='152' width='106' height='72' rx='8' fill='#FFFFFF' stroke='#DEDED9' strokeWidth='1' /&gt;&#10;                &lt;text x='167.8' y='194' textAnchor='middle' fontSize='11.5' fill='#20211E'&gt;规则匹配&lt;/text&gt;&#10;&#10;                &lt;rect x='229.6' y='152' width='106' height='72' rx='8' fill='#FFFFFF' stroke='#DEDED9' strokeWidth='1' /&gt;&#10;                &lt;text x='282.6' y='194' textAnchor='middle' fontSize='11.5' fill='#20211E'&gt;多语言文案&lt;/text&gt;&#10;&#10;                &lt;rect x='344.4' y='152' width='106' height='72' rx='8' fill='#FFFFFF' stroke='#DEDED9' strokeWidth='1' /&gt;&#10;                &lt;text x='397.4' y='194' textAnchor='middle' fontSize='11.5' fill='#20211E'&gt;视觉生成&lt;/text&gt;&#10;&#10;                &lt;rect x='459.2' y='152' width='106' height='72' rx='8' fill='#FFFFFF' stroke='#DEDED9' strokeWidth='1' /&gt;&#10;                &lt;text x='512.2' y='194' textAnchor='middle' fontSize='11.5' fill='#20211E'&gt;合规体检&lt;/text&gt;&#10;&#10;                &lt;rect x='574' y='152' width='106' height='72' rx='8' fill='#5E6752' /&gt;&#10;                &lt;text x='627' y='194' textAnchor='middle' fontSize='11.5' fontWeight='700' fill='#FFFFFF'&gt;交付闸门&lt;/text&gt;&#10;&#10;                &lt;line x1='340' y1='224' x2='340' y2='240' stroke='#C9CAC2' strokeWidth='1.5' /&gt;&#10;                &lt;polygon points='340,248 334,239 346,239' fill='#C9CAC2' /&gt;&#10;&#10;                &lt;rect x='0' y='248' width='334' height='64' rx='8' fill='#FFFFFF' stroke='#5E6752' strokeWidth='1.5' /&gt;&#10;                &lt;text x='20' y='274' fontSize='12.5' fontWeight='700' fill='#20211E'&gt;规则引擎（非 LLM 判定）&lt;/text&gt;&#10;                &lt;text x='20' y='294' fontSize='10.5' fill='#64645E'&gt;47 项确定性校验 · 不随模型波动&lt;/text&gt;&#10;&#10;                &lt;rect x='346' y='248' width='334' height='64' rx='8' fill='#FFFFFF' stroke='#DEDED9' strokeWidth='1' /&gt;&#10;                &lt;text x='366' y='274' fontSize='12.5' fontWeight='700' fill='#20211E'&gt;工具循环（function calling）&lt;/text&gt;&#10;                &lt;text x='366' y='294' fontSize='10.5' fill='#64645E'&gt;轮数 + 墙钟双熔断 · 单工具失败不炸循环&lt;/text&gt;&#10;&#10;                &lt;line x1='340' y1='312' x2='340' y2='328' stroke='#C9CAC2' strokeWidth='1.5' /&gt;&#10;                &lt;polygon points='340,336 334,327 346,327' fill='#C9CAC2' /&gt;&#10;&#10;                &lt;rect x='0' y='336' width='680' height='52' rx='8' fill='#EFEFEB' /&gt;&#10;                &lt;text x='340' y='358' textAnchor='middle' fontSize='12.5' fontWeight='600' fill='#20211E'&gt;5 平台上架包 · 合规报告 · 导入 CSV&lt;/text&gt;&#10;                &lt;text x='340' y='376' textAnchor='middle' fontSize='10.5' fill='#858580'&gt;每个平台一个独立上架包，可导出、可续查&lt;/text&gt;&#10;            &lt;/svg&gt;&#10;        &lt;/Box&gt;&#10;&#10;        &lt;Box style={{ width: 440, justifyContent: 'center' }}&gt;&#10;            &lt;Text style={{ fontSize: 11, letterSpacing: 1.6, color: '#858580' }}&gt;DELIVERY GATE&lt;/Text&gt;&#10;            &lt;Text style={{ fontSize: 26, fontWeight: 700, color: '#20211E', lineHeight: 1.35, marginTop: 12 }}&gt;交付闸门是唯一能说「完成」的入口&lt;/Text&gt;&#10;            &lt;Text style={{ fontSize: 14, color: '#64645E', lineHeight: 1.6, marginTop: 14 }}&gt;四不变量全部满足，才允许把任务置为 done；有一条不满足，缺口原样回给模型继续做。&lt;/Text&gt;&#10;&#10;            &lt;Box style={{ marginTop: 22, gap: 12 }}&gt;&#10;                &lt;Box style={{ flexDirection: 'row', gap: 10, alignItems: 'flex-start' }}&gt;&#10;                    &lt;FAIcon name='check' style={{ fill: '#5E6752', width: 14, height: 14 }} /&gt;&#10;                    &lt;Text style={{ fontSize: 14, color: '#20211E', flex: 1, lineHeight: 1.45 }}&gt;目标平台全覆盖&lt;/Text&gt;&#10;                &lt;/Box&gt;&#10;                &lt;Box style={{ flexDirection: 'row', gap: 10, alignItems: 'flex-start' }}&gt;&#10;                    &lt;FAIcon name='check' style={{ fill: '#5E6752', width: 14, height: 14 }} /&gt;&#10;                    &lt;Text style={{ fontSize: 14, color: '#20211E', flex: 1, lineHeight: 1.45 }}&gt;必需产物完整（文案 / 五点 / 主图）&lt;/Text&gt;&#10;                &lt;/Box&gt;&#10;                &lt;Box style={{ flexDirection: 'row', gap: 10, alignItems: 'flex-start' }}&gt;&#10;                    &lt;FAIcon name='check' style={{ fill: '#5E6752', width: 14, height: 14 }} /&gt;&#10;                    &lt;Text style={{ fontSize: 14, color: '#20211E', flex: 1, lineHeight: 1.45 }}&gt;阻断级 error 为零&lt;/Text&gt;&#10;                &lt;/Box&gt;&#10;                &lt;Box style={{ flexDirection: 'row', gap: 10, alignItems: 'flex-start' }}&gt;&#10;                    &lt;FAIcon name='check' style={{ fill: '#5E6752', width: 14, height: 14 }} /&gt;&#10;                    &lt;Text style={{ fontSize: 14, color: '#20211E', flex: 1, lineHeight: 1.45 }}&gt;审核覆盖且版本有效&lt;/Text&gt;&#10;                &lt;/Box&gt;&#10;            &lt;/Box&gt;&#10;&#10;            &lt;Box style={{ background: '#EFEFEB', borderRadius: 10, padding: 20, marginTop: 24 }}&gt;&#10;                &lt;Text style={{ fontSize: 13, color: '#20211E', lineHeight: 1.6 }}&gt;超时 / 超轮数 / 网关异常 / 被取消&lt;br /&gt;→ partial · failed · cancelled，&lt;span style={{ color: '#5E6752', fontWeight: 600 }}&gt;绝不标 done&lt;/span&gt;&lt;/Text&gt;&#10;            &lt;/Box&gt;&#10;&#10;            &lt;Text style={{ fontSize: 12, color: '#858580', marginTop: 18, lineHeight: 1.55 }}&gt;上架属于写操作：必须人工审批放行（approved=true）才执行，全程留痕。&lt;/Text&gt;&#10;        &lt;/Box&gt;&#10;    &lt;/Box&gt;&#10;&#10;    &lt;Box style={{ height: 60, borderTop: '1px solid #DEDED9', flexDirection: 'row', alignItems: 'center', justifyContent: 'space-between' }}&gt;&#10;        &lt;Text style={{ fontSize: 12, color: '#858580', letterSpacing: 0.3 }}&gt;千岸 QianAn · Simon Studio&lt;/Text&gt;&#10;        &lt;Text style={{ fontSize: 12, color: '#858580', letterSpacing: 1.2 }}&gt;05 / 1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35">
                <a:solidFill>
                  <a:srgbClr val="5E6752"/>
                </a:solidFill>
                <a:latin typeface="PingFang SC"/>
                <a:ea typeface="PingFang SC"/>
              </a:rPr>
              <a:t>ARCHITECTURE · </a:t>
            </a:r>
            <a:r>
              <a:rPr lang="zh-CN" sz="900" spc="135">
                <a:solidFill>
                  <a:srgbClr val="5E6752"/>
                </a:solidFill>
                <a:latin typeface="PingFang SC"/>
                <a:ea typeface="PingFang SC"/>
              </a:rPr>
              <a:t>架构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 spc="-30">
                <a:solidFill>
                  <a:srgbClr val="20211E"/>
                </a:solidFill>
                <a:latin typeface="PingFang SC"/>
                <a:ea typeface="PingFang SC"/>
              </a:rPr>
              <a:t>合规判定，不交给模型</a:t>
            </a:r>
            <a:endParaRPr/>
          </a:p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809750"/>
            <a:ext cx="6477000" cy="381000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391400" y="1571625"/>
            <a:ext cx="4191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20">
                <a:solidFill>
                  <a:srgbClr val="858580"/>
                </a:solidFill>
                <a:latin typeface="PingFang SC"/>
                <a:ea typeface="PingFang SC"/>
              </a:rPr>
              <a:t>DELIVERY GATE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7391400" y="1819275"/>
            <a:ext cx="4191000" cy="4095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950" b="1">
                <a:solidFill>
                  <a:srgbClr val="20211E"/>
                </a:solidFill>
                <a:latin typeface="PingFang SC"/>
                <a:ea typeface="PingFang SC"/>
              </a:rPr>
              <a:t>交付闸门是唯一能说「完成」的入口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7391400" y="2362200"/>
            <a:ext cx="4191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四不变量全部满足，才允许把任务置为</a:t>
            </a:r>
            <a:r>
              <a:rPr lang="en-US" sz="1050">
                <a:solidFill>
                  <a:srgbClr val="64645E"/>
                </a:solidFill>
                <a:latin typeface="PingFang SC"/>
                <a:ea typeface="PingFang SC"/>
              </a:rPr>
              <a:t> done</a:t>
            </a:r>
            <a:r>
              <a:rPr lang="zh-CN" sz="1050">
                <a:solidFill>
                  <a:srgbClr val="64645E"/>
                </a:solidFill>
                <a:latin typeface="PingFang SC"/>
                <a:ea typeface="PingFang SC"/>
              </a:rPr>
              <a:t>；有一条不满足，缺口原样回给模型继续做。</a:t>
            </a:r>
            <a:endParaRPr/>
          </a:p>
        </p:txBody>
      </p:sp>
      <p:pic>
        <p:nvPicPr>
          <p:cNvPr id="1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91400" y="3086100"/>
            <a:ext cx="133350" cy="133350"/>
          </a:xfrm>
          <a:prstGeom prst="rect">
            <a:avLst/>
          </a:prstGeom>
          <a:ln/>
        </p:spPr>
      </p:pic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620000" y="3086100"/>
            <a:ext cx="3962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211E"/>
                </a:solidFill>
                <a:latin typeface="PingFang SC"/>
                <a:ea typeface="PingFang SC"/>
              </a:rPr>
              <a:t>目标平台全覆盖</a:t>
            </a:r>
            <a:endParaRPr/>
          </a:p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91400" y="3438525"/>
            <a:ext cx="133350" cy="133350"/>
          </a:xfrm>
          <a:prstGeom prst="rect">
            <a:avLst/>
          </a:prstGeom>
          <a:ln/>
        </p:spPr>
      </p:pic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7620000" y="3438525"/>
            <a:ext cx="3962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211E"/>
                </a:solidFill>
                <a:latin typeface="PingFang SC"/>
                <a:ea typeface="PingFang SC"/>
              </a:rPr>
              <a:t>必需产物完整（文案</a:t>
            </a:r>
            <a:r>
              <a:rPr lang="en-US" sz="1050">
                <a:solidFill>
                  <a:srgbClr val="20211E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20211E"/>
                </a:solidFill>
                <a:latin typeface="PingFang SC"/>
                <a:ea typeface="PingFang SC"/>
              </a:rPr>
              <a:t>五点</a:t>
            </a:r>
            <a:r>
              <a:rPr lang="en-US" sz="1050">
                <a:solidFill>
                  <a:srgbClr val="20211E"/>
                </a:solidFill>
                <a:latin typeface="PingFang SC"/>
                <a:ea typeface="PingFang SC"/>
              </a:rPr>
              <a:t> / </a:t>
            </a:r>
            <a:r>
              <a:rPr lang="zh-CN" sz="1050">
                <a:solidFill>
                  <a:srgbClr val="20211E"/>
                </a:solidFill>
                <a:latin typeface="PingFang SC"/>
                <a:ea typeface="PingFang SC"/>
              </a:rPr>
              <a:t>主图）</a:t>
            </a:r>
            <a:endParaRPr/>
          </a:p>
        </p:txBody>
      </p:sp>
      <p:pic>
        <p:nvPicPr>
          <p:cNvPr id="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91400" y="3790950"/>
            <a:ext cx="133350" cy="133350"/>
          </a:xfrm>
          <a:prstGeom prst="rect">
            <a:avLst/>
          </a:prstGeom>
          <a:ln/>
        </p:spPr>
      </p:pic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620000" y="3790950"/>
            <a:ext cx="3962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211E"/>
                </a:solidFill>
                <a:latin typeface="PingFang SC"/>
                <a:ea typeface="PingFang SC"/>
              </a:rPr>
              <a:t>阻断级</a:t>
            </a:r>
            <a:r>
              <a:rPr lang="en-US" sz="1050">
                <a:solidFill>
                  <a:srgbClr val="20211E"/>
                </a:solidFill>
                <a:latin typeface="PingFang SC"/>
                <a:ea typeface="PingFang SC"/>
              </a:rPr>
              <a:t> error </a:t>
            </a:r>
            <a:r>
              <a:rPr lang="zh-CN" sz="1050">
                <a:solidFill>
                  <a:srgbClr val="20211E"/>
                </a:solidFill>
                <a:latin typeface="PingFang SC"/>
                <a:ea typeface="PingFang SC"/>
              </a:rPr>
              <a:t>为零</a:t>
            </a:r>
            <a:endParaRPr/>
          </a:p>
        </p:txBody>
      </p:sp>
      <p:pic>
        <p:nvPicPr>
          <p:cNvPr id="14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91400" y="4143375"/>
            <a:ext cx="133350" cy="133350"/>
          </a:xfrm>
          <a:prstGeom prst="rect">
            <a:avLst/>
          </a:prstGeom>
          <a:ln/>
        </p:spPr>
      </p:pic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620000" y="4143375"/>
            <a:ext cx="3962400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50">
                <a:solidFill>
                  <a:srgbClr val="20211E"/>
                </a:solidFill>
                <a:latin typeface="PingFang SC"/>
                <a:ea typeface="PingFang SC"/>
              </a:rPr>
              <a:t>审核覆盖且版本有效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7391400" y="4610100"/>
            <a:ext cx="4191000" cy="857250"/>
          </a:xfrm>
          <a:prstGeom prst="roundRect">
            <a:avLst>
              <a:gd name="adj" fmla="val 11111"/>
            </a:avLst>
          </a:prstGeom>
          <a:solidFill>
            <a:srgbClr val="EFEFEB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581900" y="4800600"/>
            <a:ext cx="3810000" cy="4762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20211E"/>
                </a:solidFill>
                <a:latin typeface="PingFang SC"/>
                <a:ea typeface="PingFang SC"/>
              </a:rPr>
              <a:t>超时</a:t>
            </a:r>
            <a:r>
              <a:rPr lang="en-US" sz="975">
                <a:solidFill>
                  <a:srgbClr val="20211E"/>
                </a:solidFill>
                <a:latin typeface="PingFang SC"/>
                <a:ea typeface="PingFang SC"/>
              </a:rPr>
              <a:t> / </a:t>
            </a:r>
            <a:r>
              <a:rPr lang="zh-CN" sz="975">
                <a:solidFill>
                  <a:srgbClr val="20211E"/>
                </a:solidFill>
                <a:latin typeface="PingFang SC"/>
                <a:ea typeface="PingFang SC"/>
              </a:rPr>
              <a:t>超轮数</a:t>
            </a:r>
            <a:r>
              <a:rPr lang="en-US" sz="975">
                <a:solidFill>
                  <a:srgbClr val="20211E"/>
                </a:solidFill>
                <a:latin typeface="PingFang SC"/>
                <a:ea typeface="PingFang SC"/>
              </a:rPr>
              <a:t> / </a:t>
            </a:r>
            <a:r>
              <a:rPr lang="zh-CN" sz="975">
                <a:solidFill>
                  <a:srgbClr val="20211E"/>
                </a:solidFill>
                <a:latin typeface="PingFang SC"/>
                <a:ea typeface="PingFang SC"/>
              </a:rPr>
              <a:t>网关异常</a:t>
            </a:r>
            <a:r>
              <a:rPr lang="en-US" sz="975">
                <a:solidFill>
                  <a:srgbClr val="20211E"/>
                </a:solidFill>
                <a:latin typeface="PingFang SC"/>
                <a:ea typeface="PingFang SC"/>
              </a:rPr>
              <a:t> / </a:t>
            </a:r>
            <a:r>
              <a:rPr lang="zh-CN" sz="975">
                <a:solidFill>
                  <a:srgbClr val="20211E"/>
                </a:solidFill>
                <a:latin typeface="PingFang SC"/>
                <a:ea typeface="PingFang SC"/>
              </a:rPr>
              <a:t>被取消</a:t>
            </a:r>
            <a:endParaRPr/>
          </a:p>
          <a:p>
            <a:pPr>
              <a:lnSpc>
                <a:spcPct val="160000"/>
              </a:lnSpc>
            </a:pPr>
            <a:r>
              <a:rPr lang="en-US" sz="975">
                <a:solidFill>
                  <a:srgbClr val="20211E"/>
                </a:solidFill>
                <a:latin typeface="PingFang SC"/>
                <a:ea typeface="PingFang SC"/>
              </a:rPr>
              <a:t>→ partial · failed · cancelled</a:t>
            </a:r>
            <a:r>
              <a:rPr lang="zh-CN" sz="975">
                <a:solidFill>
                  <a:srgbClr val="20211E"/>
                </a:solidFill>
                <a:latin typeface="PingFang SC"/>
                <a:ea typeface="PingFang SC"/>
              </a:rPr>
              <a:t>，</a:t>
            </a:r>
            <a:r>
              <a:rPr lang="zh-CN" sz="975" b="1">
                <a:solidFill>
                  <a:srgbClr val="5E6752"/>
                </a:solidFill>
                <a:latin typeface="PingFang SC"/>
                <a:ea typeface="PingFang SC"/>
              </a:rPr>
              <a:t>绝不标</a:t>
            </a:r>
            <a:r>
              <a:rPr lang="en-US" sz="975" b="1">
                <a:solidFill>
                  <a:srgbClr val="5E6752"/>
                </a:solidFill>
                <a:latin typeface="PingFang SC"/>
                <a:ea typeface="PingFang SC"/>
              </a:rPr>
              <a:t> done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391400" y="5638800"/>
            <a:ext cx="4191000" cy="2190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00">
                <a:solidFill>
                  <a:srgbClr val="858580"/>
                </a:solidFill>
                <a:latin typeface="PingFang SC"/>
                <a:ea typeface="PingFang SC"/>
              </a:rPr>
              <a:t>上架属于写操作：必须人工审批放行（</a:t>
            </a:r>
            <a:r>
              <a:rPr lang="en-US" sz="900">
                <a:solidFill>
                  <a:srgbClr val="858580"/>
                </a:solidFill>
                <a:latin typeface="PingFang SC"/>
                <a:ea typeface="PingFang SC"/>
              </a:rPr>
              <a:t>approved=true</a:t>
            </a:r>
            <a:r>
              <a:rPr lang="zh-CN" sz="900">
                <a:solidFill>
                  <a:srgbClr val="858580"/>
                </a:solidFill>
                <a:latin typeface="PingFang SC"/>
                <a:ea typeface="PingFang SC"/>
              </a:rPr>
              <a:t>）才执行，全程留痕。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" y="62865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">
                <a:solidFill>
                  <a:srgbClr val="858580"/>
                </a:solidFill>
                <a:latin typeface="PingFang SC"/>
                <a:ea typeface="PingFang SC"/>
              </a:rPr>
              <a:t>千岸</a:t>
            </a:r>
            <a:r>
              <a:rPr lang="en-US" sz="900" spc="22">
                <a:solidFill>
                  <a:srgbClr val="858580"/>
                </a:solidFill>
                <a:latin typeface="PingFang SC"/>
                <a:ea typeface="PingFang SC"/>
              </a:rPr>
              <a:t> QianAn · Simon Studio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58580"/>
                </a:solidFill>
                <a:latin typeface="PingFang SC"/>
                <a:ea typeface="PingFang SC"/>
              </a:rPr>
              <a:t>05 / 10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5" name="" descr="&lt;Slide style={{ width: 1280, height: 720, background: '#F7F7F5', padding: '32px 64px 0 64px', fontFamily: 'PingFang SC' }}&gt;&#10;    &lt;Box style={{ height: 88 }}&gt;&#10;        &lt;Text style={{ fontSize: 12, fontWeight: 500, letterSpacing: 1.8, color: '#5E6752' }}&gt;EVAL · 消融实验&lt;/Text&gt;&#10;        &lt;Text style={{ fontSize: 32, fontWeight: 700, color: '#20211E', letterSpacing: -0.4, marginTop: 6, lineHeight: 1.25 }}&gt;每个组件，都拆掉跑过一遍&lt;/Text&gt;&#10;    &lt;/Box&gt;&#10;&#10;    &lt;Box style={{ height: 540, flexDirection: 'row', gap: 36 }}&gt;&#10;        &lt;Box style={{ width: 708, justifyContent: 'center' }}&gt;&#10;            &lt;svg width={700} height={340} viewBox='0 0 700 340'&gt;&#10;                &lt;text x='0' y='12' fontSize='11' fill='#858580'&gt;跨平台文案差异化度（越低 = 五平台文案越一致）&lt;/text&gt;&#10;&#10;                &lt;rect x='112' y='44' width='460' height='26' rx='4' fill='#EFEFEB' /&gt;&#10;                &lt;text x='96' y='62' textAnchor='end' fontSize='12.5' fontWeight='700' fill='#20211E'&gt;完整管线&lt;/text&gt;&#10;                &lt;rect x='112' y='44' width='172' height='26' rx='4' fill='#5E6752' /&gt;&#10;                &lt;text x='294' y='62' fontSize='12.5' fontWeight='700' fill='#5E6752'&gt;0.30&lt;/text&gt;&#10;&#10;                &lt;rect x='112' y='98' width='460' height='26' rx='4' fill='#EFEFEB' /&gt;&#10;                &lt;text x='96' y='116' textAnchor='end' fontSize='12.5' fill='#64645E'&gt;− 规划&lt;/text&gt;&#10;                &lt;rect x='112' y='98' width='408' height='26' rx='4' fill='#DEDED9' /&gt;&#10;                &lt;text x='530' y='116' fontSize='12.5' fontWeight='700' fill='#64645E'&gt;0.71&lt;/text&gt;&#10;&#10;                &lt;rect x='112' y='152' width='460' height='26' rx='4' fill='#EFEFEB' /&gt;&#10;                &lt;text x='96' y='170' textAnchor='end' fontSize='12.5' fill='#64645E'&gt;− 记忆&lt;/text&gt;&#10;                &lt;rect x='112' y='152' width='391' height='26' rx='4' fill='#DEDED9' /&gt;&#10;                &lt;text x='513' y='170' fontSize='12.5' fontWeight='700' fill='#64645E'&gt;0.68&lt;/text&gt;&#10;&#10;                &lt;rect x='112' y='206' width='460' height='26' rx='4' fill='#EFEFEB' /&gt;&#10;                &lt;text x='96' y='224' textAnchor='end' fontSize='12.5' fill='#64645E'&gt;− 自愈&lt;/text&gt;&#10;                &lt;rect x='112' y='206' width='397' height='26' rx='4' fill='#DEDED9' /&gt;&#10;                &lt;text x='519' y='224' fontSize='12.5' fontWeight='700' fill='#64645E'&gt;0.69&lt;/text&gt;&#10;&#10;                &lt;rect x='112' y='260' width='460' height='26' rx='4' fill='#EFEFEB' /&gt;&#10;                &lt;text x='96' y='278' textAnchor='end' fontSize='12.5' fill='#64645E'&gt;− 反思&lt;/text&gt;&#10;                &lt;rect x='112' y='260' width='357' height='26' rx='4' fill='#DEDED9' /&gt;&#10;                &lt;text x='479' y='278' fontSize='12.5' fontWeight='700' fill='#64645E'&gt;0.62&lt;/text&gt;&#10;&#10;                &lt;line x1='0' y1='304' x2='700' y2='304' stroke='#DEDED9' strokeWidth='1' /&gt;&#10;                &lt;text x='0' y='324' fontSize='10.5' fill='#858580'&gt;同一商品、同一组卖点、同样五平台，每次只关掉一个组件，其余保持不变&lt;/text&gt;&#10;            &lt;/svg&gt;&#10;        &lt;/Box&gt;&#10;&#10;        &lt;Box style={{ width: 408, justifyContent: 'center' }}&gt;&#10;            &lt;Text style={{ fontSize: 11, letterSpacing: 1.6, color: '#858580' }}&gt;FINDINGS&lt;/Text&gt;&#10;            &lt;Text style={{ fontSize: 24, fontWeight: 700, color: '#20211E', lineHeight: 1.35, marginTop: 12 }}&gt;拆掉一个组件，代价是多少&lt;/Text&gt;&#10;&#10;            &lt;Box style={{ marginTop: 22, gap: 18 }}&gt;&#10;                &lt;Box&gt;&#10;                    &lt;Text style={{ fontSize: 15, fontWeight: 600, color: '#20211E', lineHeight: 1.45 }}&gt;规划是品牌一致性的锚点&lt;/Text&gt;&#10;                    &lt;Text style={{ fontSize: 13, color: '#64645E', lineHeight: 1.6, marginTop: 5 }}&gt;去掉规划，跨平台文案差异化度从 0.30 跳到 0.71——各平台开始各行其是，风格断裂。&lt;/Text&gt;&#10;                &lt;/Box&gt;&#10;                &lt;Box&gt;&#10;                    &lt;Text style={{ fontSize: 15, fontWeight: 600, color: '#20211E', lineHeight: 1.45 }}&gt;记忆与自愈各管一段&lt;/Text&gt;&#10;                    &lt;Text style={{ fontSize: 13, color: '#64645E', lineHeight: 1.6, marginTop: 5 }}&gt;去记忆（0.68）丢跨任务一致性；去自愈（0.69）文案膨胀 12%，失去精简约束。&lt;/Text&gt;&#10;                &lt;/Box&gt;&#10;                &lt;Box&gt;&#10;                    &lt;Text style={{ fontSize: 15, fontWeight: 600, color: '#20211E', lineHeight: 1.45 }}&gt;规则引擎不受任何消融影响&lt;/Text&gt;&#10;                    &lt;Text style={{ fontSize: 13, color: '#64645E', lineHeight: 1.6, marginTop: 5 }}&gt;五组配置合规率均 100%、阻断 error 为 0——确定性护栏与模型波动解耦。&lt;/Text&gt;&#10;                &lt;/Box&gt;&#10;            &lt;/Box&gt;&#10;&#10;            &lt;Box style={{ marginTop: 24, paddingTop: 16, borderTop: '1px solid #DEDED9' }}&gt;&#10;                &lt;Text style={{ fontSize: 11, color: '#858580', lineHeight: 1.6 }}&gt;实验限定：单商品（便携保温杯 500ml）× 5 配置 × 单次运行。&lt;br /&gt;样本量不足以构成统计显著性，我们如实标注，未包装成「实验证明」。&lt;/Text&gt;&#10;            &lt;/Box&gt;&#10;        &lt;/Box&gt;&#10;    &lt;/Box&gt;&#10;&#10;    &lt;Box style={{ height: 60, borderTop: '1px solid #DEDED9', flexDirection: 'row', alignItems: 'center', justifyContent: 'space-between' }}&gt;&#10;        &lt;Text style={{ fontSize: 12, color: '#858580', letterSpacing: 0.3 }}&gt;千岸 QianAn · Simon Studio&lt;/Text&gt;&#10;        &lt;Text style={{ fontSize: 12, color: '#858580', letterSpacing: 1.2 }}&gt;06 / 1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35">
                <a:solidFill>
                  <a:srgbClr val="5E6752"/>
                </a:solidFill>
                <a:latin typeface="PingFang SC"/>
                <a:ea typeface="PingFang SC"/>
              </a:rPr>
              <a:t>EVAL · </a:t>
            </a:r>
            <a:r>
              <a:rPr lang="zh-CN" sz="900" spc="135">
                <a:solidFill>
                  <a:srgbClr val="5E6752"/>
                </a:solidFill>
                <a:latin typeface="PingFang SC"/>
                <a:ea typeface="PingFang SC"/>
              </a:rPr>
              <a:t>消融实验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 spc="-30">
                <a:solidFill>
                  <a:srgbClr val="20211E"/>
                </a:solidFill>
                <a:latin typeface="PingFang SC"/>
                <a:ea typeface="PingFang SC"/>
              </a:rPr>
              <a:t>每个组件，都拆掉跑过一遍</a:t>
            </a:r>
            <a:endParaRPr/>
          </a:p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2095500"/>
            <a:ext cx="6667500" cy="3238500"/>
          </a:xfrm>
          <a:prstGeom prst="rect">
            <a:avLst/>
          </a:prstGeom>
          <a:ln/>
        </p:spPr>
      </p:pic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7696200" y="1562100"/>
            <a:ext cx="3886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20">
                <a:solidFill>
                  <a:srgbClr val="858580"/>
                </a:solidFill>
                <a:latin typeface="PingFang SC"/>
                <a:ea typeface="PingFang SC"/>
              </a:rPr>
              <a:t>FINDINGS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7696200" y="1809750"/>
            <a:ext cx="3886200" cy="3714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00" b="1">
                <a:solidFill>
                  <a:srgbClr val="20211E"/>
                </a:solidFill>
                <a:latin typeface="PingFang SC"/>
                <a:ea typeface="PingFang SC"/>
              </a:rPr>
              <a:t>拆掉一个组件，代价是多少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696200" y="2390775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20211E"/>
                </a:solidFill>
                <a:latin typeface="PingFang SC"/>
                <a:ea typeface="PingFang SC"/>
              </a:rPr>
              <a:t>规划是品牌一致性的锚点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7696200" y="2695575"/>
            <a:ext cx="38862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去掉规划，跨平台文案差异化度从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 0.30 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跳到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 0.71——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各平台开始各行其是，风格断裂。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696200" y="3343275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20211E"/>
                </a:solidFill>
                <a:latin typeface="PingFang SC"/>
                <a:ea typeface="PingFang SC"/>
              </a:rPr>
              <a:t>记忆与自愈各管一段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696200" y="3648075"/>
            <a:ext cx="38862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去记忆（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0.68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）丢跨任务一致性；去自愈（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0.69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）文案膨胀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 12%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，失去精简约束。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7696200" y="4295775"/>
            <a:ext cx="3886200" cy="2571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 b="1">
                <a:solidFill>
                  <a:srgbClr val="20211E"/>
                </a:solidFill>
                <a:latin typeface="PingFang SC"/>
                <a:ea typeface="PingFang SC"/>
              </a:rPr>
              <a:t>规则引擎不受任何消融影响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7696200" y="4600575"/>
            <a:ext cx="38862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五组配置合规率均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 100%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、阻断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 error 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为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 0——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确定性护栏与模型波动解耦。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7696200" y="5305425"/>
            <a:ext cx="3886200" cy="581025"/>
          </a:xfrm>
          <a:custGeom>
            <a:pathLst>
              <a:path w="408" h="61">
                <a:moveTo>
                  <a:pt x="0" y="0"/>
                </a:moveTo>
                <a:lnTo>
                  <a:pt x="408" y="0"/>
                </a:lnTo>
                <a:lnTo>
                  <a:pt x="408" y="1"/>
                </a:lnTo>
                <a:lnTo>
                  <a:pt x="0" y="1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7696200" y="5467350"/>
            <a:ext cx="38862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25">
                <a:solidFill>
                  <a:srgbClr val="858580"/>
                </a:solidFill>
                <a:latin typeface="PingFang SC"/>
                <a:ea typeface="PingFang SC"/>
              </a:rPr>
              <a:t>实验限定：单商品（便携保温杯</a:t>
            </a:r>
            <a:r>
              <a:rPr lang="en-US" sz="825">
                <a:solidFill>
                  <a:srgbClr val="858580"/>
                </a:solidFill>
                <a:latin typeface="PingFang SC"/>
                <a:ea typeface="PingFang SC"/>
              </a:rPr>
              <a:t> 500ml</a:t>
            </a:r>
            <a:r>
              <a:rPr lang="zh-CN" sz="825">
                <a:solidFill>
                  <a:srgbClr val="858580"/>
                </a:solidFill>
                <a:latin typeface="PingFang SC"/>
                <a:ea typeface="PingFang SC"/>
              </a:rPr>
              <a:t>）×</a:t>
            </a:r>
            <a:r>
              <a:rPr lang="en-US" sz="825">
                <a:solidFill>
                  <a:srgbClr val="858580"/>
                </a:solidFill>
                <a:latin typeface="PingFang SC"/>
                <a:ea typeface="PingFang SC"/>
              </a:rPr>
              <a:t> 5 </a:t>
            </a:r>
            <a:r>
              <a:rPr lang="zh-CN" sz="825">
                <a:solidFill>
                  <a:srgbClr val="858580"/>
                </a:solidFill>
                <a:latin typeface="PingFang SC"/>
                <a:ea typeface="PingFang SC"/>
              </a:rPr>
              <a:t>配置</a:t>
            </a:r>
            <a:r>
              <a:rPr lang="en-US" sz="825">
                <a:solidFill>
                  <a:srgbClr val="858580"/>
                </a:solidFill>
                <a:latin typeface="PingFang SC"/>
                <a:ea typeface="PingFang SC"/>
              </a:rPr>
              <a:t> × </a:t>
            </a:r>
            <a:r>
              <a:rPr lang="zh-CN" sz="825">
                <a:solidFill>
                  <a:srgbClr val="858580"/>
                </a:solidFill>
                <a:latin typeface="PingFang SC"/>
                <a:ea typeface="PingFang SC"/>
              </a:rPr>
              <a:t>单次运行。</a:t>
            </a:r>
            <a:endParaRPr/>
          </a:p>
          <a:p>
            <a:pPr>
              <a:lnSpc>
                <a:spcPct val="160000"/>
              </a:lnSpc>
            </a:pPr>
            <a:r>
              <a:rPr lang="zh-CN" sz="825">
                <a:solidFill>
                  <a:srgbClr val="858580"/>
                </a:solidFill>
                <a:latin typeface="PingFang SC"/>
                <a:ea typeface="PingFang SC"/>
              </a:rPr>
              <a:t>样本量不足以构成统计显著性，我们如实标注，未包装成「实验证明」。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609600" y="62865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">
                <a:solidFill>
                  <a:srgbClr val="858580"/>
                </a:solidFill>
                <a:latin typeface="PingFang SC"/>
                <a:ea typeface="PingFang SC"/>
              </a:rPr>
              <a:t>千岸</a:t>
            </a:r>
            <a:r>
              <a:rPr lang="en-US" sz="900" spc="22">
                <a:solidFill>
                  <a:srgbClr val="858580"/>
                </a:solidFill>
                <a:latin typeface="PingFang SC"/>
                <a:ea typeface="PingFang SC"/>
              </a:rPr>
              <a:t> QianAn · Simon Studio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58580"/>
                </a:solidFill>
                <a:latin typeface="PingFang SC"/>
                <a:ea typeface="PingFang SC"/>
              </a:rPr>
              <a:t>06 / 10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" descr="&lt;Slide style={{ width: 1280, height: 720, background: '#F7F7F5', padding: '32px 64px 0 64px', fontFamily: 'PingFang SC' }}&gt;&#10;    &lt;Box style={{ height: 88 }}&gt;&#10;        &lt;Text style={{ fontSize: 12, fontWeight: 500, letterSpacing: 1.8, color: '#5E6752' }}&gt;LIVE DEMO · 现场演示&lt;/Text&gt;&#10;        &lt;Text style={{ fontSize: 32, fontWeight: 700, color: '#20211E', letterSpacing: -0.4, marginTop: 6, lineHeight: 1.25 }}&gt;现在，走一遍&lt;/Text&gt;&#10;    &lt;/Box&gt;&#10;&#10;    &lt;Box style={{ height: 540, flexDirection: 'row', gap: 48 }}&gt;&#10;        &lt;Box style={{ width: 464, justifyContent: 'center' }}&gt;&#10;            &lt;Box&gt;&#10;                &lt;Box style={{ flexDirection: 'row', alignItems: 'baseline', gap: 10 }}&gt;&#10;                    &lt;Text style={{ fontSize: 12, fontWeight: 700, color: '#5E6752' }}&gt;01&lt;/Text&gt;&#10;                    &lt;Text style={{ fontSize: 17, fontWeight: 600, color: '#20211E' }}&gt;说一句话，就开工&lt;/Text&gt;&#10;                &lt;/Box&gt;&#10;                &lt;Text style={{ fontSize: 13.5, color: '#64645E', lineHeight: 1.6, marginTop: 8 }}&gt;描述商品与目标市场，Agent 自己拆任务：理解商品 → 匹配平台规则 → 逐平台生成文案与视觉。不用填表，也不用挑模板。&lt;/Text&gt;&#10;            &lt;/Box&gt;&#10;&#10;            &lt;Box style={{ marginTop: 34 }}&gt;&#10;                &lt;Box style={{ flexDirection: 'row', alignItems: 'baseline', gap: 10 }}&gt;&#10;                    &lt;Text style={{ fontSize: 12, fontWeight: 700, color: '#5E6752' }}&gt;02&lt;/Text&gt;&#10;                    &lt;Text style={{ fontSize: 17, fontWeight: 600, color: '#20211E' }}&gt;每一步都看得见&lt;/Text&gt;&#10;                &lt;/Box&gt;&#10;                &lt;Text style={{ fontSize: 13.5, color: '#64645E', lineHeight: 1.6, marginTop: 8 }}&gt;中间是实时轨迹：调了什么工具、生成了什么、模型自己怎么判断，全程滚动留痕——不是拿结果倒推的动画。&lt;/Text&gt;&#10;            &lt;/Box&gt;&#10;&#10;            &lt;Box style={{ marginTop: 34 }}&gt;&#10;                &lt;Box style={{ flexDirection: 'row', alignItems: 'baseline', gap: 10 }}&gt;&#10;                    &lt;Text style={{ fontSize: 12, fontWeight: 700, color: '#5E6752' }}&gt;03&lt;/Text&gt;&#10;                    &lt;Text style={{ fontSize: 17, fontWeight: 600, color: '#20211E' }}&gt;改文案，再上架&lt;/Text&gt;&#10;                &lt;/Box&gt;&#10;                &lt;Text style={{ fontSize: 13.5, color: '#64645E', lineHeight: 1.6, marginTop: 8 }}&gt;随手改一句，47 项合规校验立刻重跑；确认后一键上架，需要人工审批放行，后台执行全程留痕。&lt;/Text&gt;&#10;            &lt;/Box&gt;&#10;        &lt;/Box&gt;&#10;&#10;        &lt;Box style={{ width: 640, justifyContent: 'center' }}&gt;&#10;            &lt;Image&#10;                src='assets/result_live.png'&#10;                style={{ width: 640, height: 400, objectFit: 'cover', borderRadius: 10, border: '1px solid #DEDED9' }}&#10;            /&gt;&#10;            &lt;Text style={{ fontSize: 12, color: '#858580', marginTop: 14 }}&gt;同屏三栏：对话轨迹 / 工具调用 / 各平台实时产物&lt;/Text&gt;&#10;        &lt;/Box&gt;&#10;    &lt;/Box&gt;&#10;&#10;    &lt;Box style={{ height: 60, borderTop: '1px solid #DEDED9', flexDirection: 'row', alignItems: 'center', justifyContent: 'space-between' }}&gt;&#10;        &lt;Text style={{ fontSize: 12, color: '#858580', letterSpacing: 0.3 }}&gt;千岸 QianAn · Simon Studio&lt;/Text&gt;&#10;        &lt;Text style={{ fontSize: 12, color: '#858580', letterSpacing: 1.2 }}&gt;07 / 1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35">
                <a:solidFill>
                  <a:srgbClr val="5E6752"/>
                </a:solidFill>
                <a:latin typeface="PingFang SC"/>
                <a:ea typeface="PingFang SC"/>
              </a:rPr>
              <a:t>LIVE DEMO · </a:t>
            </a:r>
            <a:r>
              <a:rPr lang="zh-CN" sz="900" spc="135">
                <a:solidFill>
                  <a:srgbClr val="5E6752"/>
                </a:solidFill>
                <a:latin typeface="PingFang SC"/>
                <a:ea typeface="PingFang SC"/>
              </a:rPr>
              <a:t>现场演示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 spc="-30">
                <a:solidFill>
                  <a:srgbClr val="20211E"/>
                </a:solidFill>
                <a:latin typeface="PingFang SC"/>
                <a:ea typeface="PingFang SC"/>
              </a:rPr>
              <a:t>现在，走一遍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2238375"/>
            <a:ext cx="12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828675" y="22383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说一句话，就开工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609600" y="2514600"/>
            <a:ext cx="44196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描述商品与目标市场，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Agent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自己拆任务：理解商品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→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匹配平台规则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→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逐平台生成文案与视觉。不用填表，也不用挑模板。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609600" y="3333750"/>
            <a:ext cx="14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47725" y="3333750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每一步都看得见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609600" y="3609975"/>
            <a:ext cx="44196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中间是实时轨迹：调了什么工具、生成了什么、模型自己怎么判断，全程滚动留痕——不是拿结果倒推的动画。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09600" y="4429125"/>
            <a:ext cx="14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847725" y="4429125"/>
            <a:ext cx="1133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改文案，再上架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4705350"/>
            <a:ext cx="44196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随手改一句，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47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项合规校验立刻重跑；确认后一键上架，需要人工审批放行，后台执行全程留痕。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5486400" y="1676400"/>
            <a:ext cx="6096000" cy="3810000"/>
          </a:xfrm>
          <a:prstGeom prst="rect">
            <a:avLst/>
          </a:prstGeom>
          <a:ln w="12700">
            <a:solidFill>
              <a:srgbClr val="DEDED9"/>
            </a:solidFill>
            <a:prstDash val="solid"/>
          </a:ln>
        </p:spPr>
        <p:txBody>
          <a:bodyPr/>
          <a:p/>
        </p:txBody>
      </p:sp>
      <p:pic>
        <p:nvPicPr>
          <p:cNvPr id="187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5486400" y="1676400"/>
            <a:ext cx="6096000" cy="3810000"/>
          </a:xfrm>
          <a:prstGeom prst="roundRect">
            <a:avLst>
              <a:gd name="adj" fmla="val 2500"/>
            </a:avLst>
          </a:prstGeom>
          <a:ln/>
        </p:spPr>
      </p:pic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486400" y="5619750"/>
            <a:ext cx="6096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58580"/>
                </a:solidFill>
                <a:latin typeface="PingFang SC"/>
                <a:ea typeface="PingFang SC"/>
              </a:rPr>
              <a:t>同屏三栏：对话轨迹</a:t>
            </a:r>
            <a:r>
              <a:rPr lang="en-US" sz="900">
                <a:solidFill>
                  <a:srgbClr val="858580"/>
                </a:solidFill>
                <a:latin typeface="PingFang SC"/>
                <a:ea typeface="PingFang SC"/>
              </a:rPr>
              <a:t> / </a:t>
            </a:r>
            <a:r>
              <a:rPr lang="zh-CN" sz="900">
                <a:solidFill>
                  <a:srgbClr val="858580"/>
                </a:solidFill>
                <a:latin typeface="PingFang SC"/>
                <a:ea typeface="PingFang SC"/>
              </a:rPr>
              <a:t>工具调用</a:t>
            </a:r>
            <a:r>
              <a:rPr lang="en-US" sz="900">
                <a:solidFill>
                  <a:srgbClr val="858580"/>
                </a:solidFill>
                <a:latin typeface="PingFang SC"/>
                <a:ea typeface="PingFang SC"/>
              </a:rPr>
              <a:t> / </a:t>
            </a:r>
            <a:r>
              <a:rPr lang="zh-CN" sz="900">
                <a:solidFill>
                  <a:srgbClr val="858580"/>
                </a:solidFill>
                <a:latin typeface="PingFang SC"/>
                <a:ea typeface="PingFang SC"/>
              </a:rPr>
              <a:t>各平台实时产物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609600" y="62865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">
                <a:solidFill>
                  <a:srgbClr val="858580"/>
                </a:solidFill>
                <a:latin typeface="PingFang SC"/>
                <a:ea typeface="PingFang SC"/>
              </a:rPr>
              <a:t>千岸</a:t>
            </a:r>
            <a:r>
              <a:rPr lang="en-US" sz="900" spc="22">
                <a:solidFill>
                  <a:srgbClr val="858580"/>
                </a:solidFill>
                <a:latin typeface="PingFang SC"/>
                <a:ea typeface="PingFang SC"/>
              </a:rPr>
              <a:t> QianAn · Simon Studio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58580"/>
                </a:solidFill>
                <a:latin typeface="PingFang SC"/>
                <a:ea typeface="PingFang SC"/>
              </a:rPr>
              <a:t>07 / 10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2" name="" descr="&lt;Slide style={{ width: 1280, height: 720, background: '#F7F7F5', padding: '32px 64px 0 64px', fontFamily: 'PingFang SC' }}&gt;&#10;    &lt;Box style={{ height: 88 }}&gt;&#10;        &lt;Text style={{ fontSize: 12, fontWeight: 500, letterSpacing: 1.8, color: '#5E6752' }}&gt;BUSINESS · 商业价值&lt;/Text&gt;&#10;        &lt;Text style={{ fontSize: 32, fontWeight: 700, color: '#20211E', letterSpacing: -0.4, marginTop: 6, lineHeight: 1.25 }}&gt;谁付钱，为什么是现在&lt;/Text&gt;&#10;    &lt;/Box&gt;&#10;&#10;    &lt;Box style={{ height: 540, flexDirection: 'row', gap: 36 }}&gt;&#10;        &lt;Box style={{ width: 668, justifyContent: 'space-between' }}&gt;&#10;            &lt;Box&gt;&#10;                &lt;Box style={{ background: '#FFFFFF', borderRadius: 10, border: '1px solid #DEDED9', padding: 22 }}&gt;&#10;                    &lt;Box style={{ flexDirection: 'row', alignItems: 'baseline', gap: 12 }}&gt;&#10;                        &lt;Text style={{ fontSize: 17, fontWeight: 600, color: '#20211E', width: 212 }}&gt;中小跨境卖家&lt;/Text&gt;&#10;                        &lt;Text style={{ fontSize: 12, color: '#5E6752', fontWeight: 600 }}&gt;数百万量级&lt;/Text&gt;&#10;                    &lt;/Box&gt;&#10;                    &lt;Text style={{ fontSize: 13, color: '#64645E', lineHeight: 1.6, marginTop: 8 }}&gt;人手少、没有设计资源。以前只敢守得住 1–2 个平台，现在同一份输入能铺满 5 个——长尾市场的门被打开了。&lt;/Text&gt;&#10;                &lt;/Box&gt;&#10;&#10;                &lt;Box style={{ background: '#FFFFFF', borderRadius: 10, border: '1px solid #DEDED9', padding: 22, marginTop: 16 }}&gt;&#10;                    &lt;Box style={{ flexDirection: 'row', alignItems: 'baseline', gap: 12 }}&gt;&#10;                        &lt;Text style={{ fontSize: 17, fontWeight: 600, color: '#20211E', width: 212 }}&gt;跨境品牌大卖&lt;/Text&gt;&#10;                        &lt;Text style={{ fontSize: 12, color: '#5E6752', fontWeight: 600 }}&gt;SKU 多 · 上新频次高&lt;/Text&gt;&#10;                    &lt;/Box&gt;&#10;                    &lt;Text style={{ fontSize: 13, color: '#64645E', lineHeight: 1.6, marginTop: 8 }}&gt;素材生产是规模化的瓶颈。多一条自动出包的产线，就多一批能按时上架的新品。&lt;/Text&gt;&#10;                &lt;/Box&gt;&#10;&#10;                &lt;Box style={{ background: '#FFFFFF', borderRadius: 10, border: '1px solid #DEDED9', padding: 22, marginTop: 16 }}&gt;&#10;                    &lt;Box style={{ flexDirection: 'row', alignItems: 'baseline', gap: 12 }}&gt;&#10;                        &lt;Text style={{ fontSize: 17, fontWeight: 600, color: '#20211E', width: 212 }}&gt;跨境 ISV / ERP 服务商&lt;/Text&gt;&#10;                        &lt;Text style={{ fontSize: 12, color: '#5E6752', fontWeight: 600 }}&gt;集成即卖&lt;/Text&gt;&#10;                    &lt;/Box&gt;&#10;                    &lt;Text style={{ fontSize: 13, color: '#64645E', lineHeight: 1.6, marginTop: 8 }}&gt;把千岸作为上架模块嵌进现有系统——不必自己维护五平台规则库，也不必养一支视觉团队。&lt;/Text&gt;&#10;                &lt;/Box&gt;&#10;            &lt;/Box&gt;&#10;&#10;            &lt;Box style={{ background: '#EFEFEB', borderRadius: 10, padding: 24 }}&gt;&#10;                &lt;Text style={{ fontSize: 17, fontWeight: 600, color: '#20211E', lineHeight: 1.5 }}&gt;真正的付费意愿，不在「省了设计费」，&lt;br /&gt;而在「敢多铺几个平台」。&lt;/Text&gt;&#10;                &lt;Text style={{ fontSize: 12, color: '#64645E', marginTop: 12, lineHeight: 1.6 }}&gt;单品素材成本从千元级压到几十块——省下的钱是次要的，被打开的平台数量才是。&lt;/Text&gt;&#10;            &lt;/Box&gt;&#10;        &lt;/Box&gt;&#10;&#10;        &lt;Box style={{ width: 448, background: '#FFFFFF', border: '1px solid #DEDED9', borderRadius: 12, padding: 30, justifyContent: 'space-between' }}&gt;&#10;            &lt;Box&gt;&#10;                &lt;Box style={{ width: 40, height: 2, background: '#5E6752', marginBottom: 18 }} /&gt;&#10;                &lt;Text style={{ fontSize: 11, letterSpacing: 2, color: '#5E6752' }}&gt;DELIVERY STATUS&lt;/Text&gt;&#10;                &lt;Text style={{ fontSize: 25, fontWeight: 700, color: '#20211E', lineHeight: 1.36, marginTop: 16 }}&gt;不是概念稿，&lt;br /&gt;是已经跑在公网上的东西&lt;/Text&gt;&#10;&#10;                &lt;Box style={{ marginTop: 26, gap: 14 }}&gt;&#10;                    &lt;Box style={{ flexDirection: 'row', gap: 12, alignItems: 'flex-start' }}&gt;&#10;                        &lt;FAIcon name='check-circle' style={{ fill: '#5E6752', width: 15, height: 15 }} /&gt;&#10;                        &lt;Text style={{ fontSize: 13.5, color: '#64645E', flex: 1, lineHeight: 1.45 }}&gt;公网 Demo 在线，前端 HTTP 200&lt;/Text&gt;&#10;                    &lt;/Box&gt;&#10;                    &lt;Box style={{ flexDirection: 'row', gap: 12, alignItems: 'flex-start' }}&gt;&#10;                        &lt;FAIcon name='check-circle' style={{ fill: '#5E6752', width: 15, height: 15 }} /&gt;&#10;                        &lt;Text style={{ fontSize: 13.5, color: '#64645E', flex: 1, lineHeight: 1.45 }}&gt;后端真实模型模式在线（health: mock=false）&lt;/Text&gt;&#10;                    &lt;/Box&gt;&#10;                    &lt;Box style={{ flexDirection: 'row', gap: 12, alignItems: 'flex-start' }}&gt;&#10;                        &lt;FAIcon name='check-circle' style={{ fill: '#5E6752', width: 15, height: 15 }} /&gt;&#10;                        &lt;Text style={{ fontSize: 13.5, color: '#64645E', flex: 1, lineHeight: 1.45 }}&gt;后端 56 项测试通过，含 4 条端到端闭环&lt;/Text&gt;&#10;                    &lt;/Box&gt;&#10;                    &lt;Box style={{ flexDirection: 'row', gap: 12, alignItems: 'flex-start' }}&gt;&#10;                        &lt;FAIcon name='check-circle' style={{ fill: '#5E6752', width: 15, height: 15 }} /&gt;&#10;                        &lt;Text style={{ fontSize: 13.5, color: '#64645E', flex: 1, lineHeight: 1.45 }}&gt;五平台上架包 + 合规报告可导出续查&lt;/Text&gt;&#10;                    &lt;/Box&gt;&#10;                &lt;/Box&gt;&#10;            &lt;/Box&gt;&#10;&#10;            &lt;Box style={{ paddingTop: 20, borderTop: '1px solid #EDEDE9' }}&gt;&#10;                &lt;Text style={{ fontSize: 11, color: '#858580' }}&gt;SOURCE&lt;/Text&gt;&#10;                &lt;Text style={{ fontSize: 13, color: '#20211E', marginTop: 8 }}&gt;github.com/gxinxing/qianan&lt;/Text&gt;&#10;            &lt;/Box&gt;&#10;        &lt;/Box&gt;&#10;    &lt;/Box&gt;&#10;&#10;    &lt;Box style={{ height: 60, borderTop: '1px solid #DEDED9', flexDirection: 'row', alignItems: 'center', justifyContent: 'space-between' }}&gt;&#10;        &lt;Text style={{ fontSize: 12, color: '#858580', letterSpacing: 0.3 }}&gt;千岸 QianAn · Simon Studio&lt;/Text&gt;&#10;        &lt;Text style={{ fontSize: 12, color: '#858580', letterSpacing: 1.2 }}&gt;08 / 1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35">
                <a:solidFill>
                  <a:srgbClr val="5E6752"/>
                </a:solidFill>
                <a:latin typeface="PingFang SC"/>
                <a:ea typeface="PingFang SC"/>
              </a:rPr>
              <a:t>BUSINESS · </a:t>
            </a:r>
            <a:r>
              <a:rPr lang="zh-CN" sz="900" spc="135">
                <a:solidFill>
                  <a:srgbClr val="5E6752"/>
                </a:solidFill>
                <a:latin typeface="PingFang SC"/>
                <a:ea typeface="PingFang SC"/>
              </a:rPr>
              <a:t>商业价值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 spc="-30">
                <a:solidFill>
                  <a:srgbClr val="20211E"/>
                </a:solidFill>
                <a:latin typeface="PingFang SC"/>
                <a:ea typeface="PingFang SC"/>
              </a:rPr>
              <a:t>谁付钱，为什么是现在</a:t>
            </a:r>
            <a:endParaRPr/>
          </a:p>
        </p:txBody>
      </p:sp>
      <p:sp>
        <p:nvSpPr>
          <p:cNvPr id="196" name=""/>
          <p:cNvSpPr/>
          <p:nvPr/>
        </p:nvSpPr>
        <p:spPr>
          <a:xfrm rot="0" flipH="0" flipV="0">
            <a:off x="609600" y="1143000"/>
            <a:ext cx="6362700" cy="1171575"/>
          </a:xfrm>
          <a:prstGeom prst="roundRect">
            <a:avLst>
              <a:gd name="adj" fmla="val 8130"/>
            </a:avLst>
          </a:prstGeom>
          <a:solidFill>
            <a:srgbClr val="FFFFFF"/>
          </a:solidFill>
          <a:ln w="12700">
            <a:solidFill>
              <a:srgbClr val="DEDED9"/>
            </a:solidFill>
            <a:prstDash val="solid"/>
          </a:ln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19150" y="1352550"/>
            <a:ext cx="201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中小跨境卖家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2952750" y="1352550"/>
            <a:ext cx="57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E6752"/>
                </a:solidFill>
                <a:latin typeface="PingFang SC"/>
                <a:ea typeface="PingFang SC"/>
              </a:rPr>
              <a:t>数百万量级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19150" y="1628775"/>
            <a:ext cx="594360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人手少、没有设计资源。以前只敢守得住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 1–2 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个平台，现在同一份输入能铺满</a:t>
            </a:r>
            <a:r>
              <a:rPr lang="en-US" sz="975">
                <a:solidFill>
                  <a:srgbClr val="64645E"/>
                </a:solidFill>
                <a:latin typeface="PingFang SC"/>
                <a:ea typeface="PingFang SC"/>
              </a:rPr>
              <a:t> 5 </a:t>
            </a: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个——长尾市场的门被打开了。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609600" y="2466975"/>
            <a:ext cx="6362700" cy="93345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EDED9"/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19150" y="2676525"/>
            <a:ext cx="201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跨境品牌大卖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2952750" y="2676525"/>
            <a:ext cx="1104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SKU </a:t>
            </a:r>
            <a:r>
              <a:rPr lang="zh-CN" sz="900" b="1">
                <a:solidFill>
                  <a:srgbClr val="5E6752"/>
                </a:solidFill>
                <a:latin typeface="PingFang SC"/>
                <a:ea typeface="PingFang SC"/>
              </a:rPr>
              <a:t>多</a:t>
            </a: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 · </a:t>
            </a:r>
            <a:r>
              <a:rPr lang="zh-CN" sz="900" b="1">
                <a:solidFill>
                  <a:srgbClr val="5E6752"/>
                </a:solidFill>
                <a:latin typeface="PingFang SC"/>
                <a:ea typeface="PingFang SC"/>
              </a:rPr>
              <a:t>上新频次高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19150" y="2952750"/>
            <a:ext cx="59436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素材生产是规模化的瓶颈。多一条自动出包的产线，就多一批能按时上架的新品。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09600" y="3552825"/>
            <a:ext cx="6362700" cy="933450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DEDED9"/>
            </a:solidFill>
            <a:prstDash val="solid"/>
          </a:ln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19150" y="3762375"/>
            <a:ext cx="2019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跨境</a:t>
            </a:r>
            <a:r>
              <a:rPr lang="en-US" sz="1275" b="1">
                <a:solidFill>
                  <a:srgbClr val="20211E"/>
                </a:solidFill>
                <a:latin typeface="PingFang SC"/>
                <a:ea typeface="PingFang SC"/>
              </a:rPr>
              <a:t> ISV / ERP </a:t>
            </a: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服务商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2952750" y="3762375"/>
            <a:ext cx="457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5E6752"/>
                </a:solidFill>
                <a:latin typeface="PingFang SC"/>
                <a:ea typeface="PingFang SC"/>
              </a:rPr>
              <a:t>集成即卖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19150" y="4038600"/>
            <a:ext cx="59436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64645E"/>
                </a:solidFill>
                <a:latin typeface="PingFang SC"/>
                <a:ea typeface="PingFang SC"/>
              </a:rPr>
              <a:t>把千岸作为上架模块嵌进现有系统——不必自己维护五平台规则库，也不必养一支视觉团队。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609600" y="4895850"/>
            <a:ext cx="6362700" cy="1390650"/>
          </a:xfrm>
          <a:prstGeom prst="roundRect">
            <a:avLst>
              <a:gd name="adj" fmla="val 6849"/>
            </a:avLst>
          </a:prstGeom>
          <a:solidFill>
            <a:srgbClr val="EFEFEB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838200" y="5124450"/>
            <a:ext cx="5905500" cy="590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真正的付费意愿，不在「省了设计费」，</a:t>
            </a:r>
            <a:endParaRPr/>
          </a:p>
          <a:p>
            <a:pPr>
              <a:lnSpc>
                <a:spcPct val="15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而在「敢多铺几个平台」。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38200" y="5829300"/>
            <a:ext cx="59055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64645E"/>
                </a:solidFill>
                <a:latin typeface="PingFang SC"/>
                <a:ea typeface="PingFang SC"/>
              </a:rPr>
              <a:t>单品素材成本从千元级压到几十块——省下的钱是次要的，被打开的平台数量才是。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315200" y="1143000"/>
            <a:ext cx="4267200" cy="5143500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EDED9"/>
            </a:solidFill>
            <a:prstDash val="solid"/>
          </a:ln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7600950" y="1428750"/>
            <a:ext cx="381000" cy="19050"/>
          </a:xfrm>
          <a:prstGeom prst="rect">
            <a:avLst/>
          </a:prstGeom>
          <a:solidFill>
            <a:srgbClr val="5E6752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600950" y="1619250"/>
            <a:ext cx="3695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5E6752"/>
                </a:solidFill>
                <a:latin typeface="PingFang SC"/>
                <a:ea typeface="PingFang SC"/>
              </a:rPr>
              <a:t>DELIVERY STATUS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600950" y="1905000"/>
            <a:ext cx="3695700" cy="781050"/>
          </a:xfrm>
          <a:prstGeom prst="rect"/>
        </p:spPr>
        <p:txBody>
          <a:bodyPr wrap="none" lIns="0" tIns="0" rIns="0" bIns="0"/>
          <a:p>
            <a:pPr>
              <a:lnSpc>
                <a:spcPct val="136000"/>
              </a:lnSpc>
            </a:pPr>
            <a:r>
              <a:rPr lang="zh-CN" sz="1875" b="1">
                <a:solidFill>
                  <a:srgbClr val="20211E"/>
                </a:solidFill>
                <a:latin typeface="PingFang SC"/>
                <a:ea typeface="PingFang SC"/>
              </a:rPr>
              <a:t>不是概念稿，</a:t>
            </a:r>
            <a:endParaRPr/>
          </a:p>
          <a:p>
            <a:pPr>
              <a:lnSpc>
                <a:spcPct val="136000"/>
              </a:lnSpc>
            </a:pPr>
            <a:r>
              <a:rPr lang="zh-CN" sz="1875" b="1">
                <a:solidFill>
                  <a:srgbClr val="20211E"/>
                </a:solidFill>
                <a:latin typeface="PingFang SC"/>
                <a:ea typeface="PingFang SC"/>
              </a:rPr>
              <a:t>是已经跑在公网上的东西</a:t>
            </a:r>
            <a:endParaRPr/>
          </a:p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00950" y="2933700"/>
            <a:ext cx="142875" cy="142875"/>
          </a:xfrm>
          <a:prstGeom prst="rect">
            <a:avLst/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858125" y="2933700"/>
            <a:ext cx="3438525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公网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Demo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在线，前端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HTTP 200</a:t>
            </a:r>
            <a:endParaRPr/>
          </a:p>
        </p:txBody>
      </p:sp>
      <p:pic>
        <p:nvPicPr>
          <p:cNvPr id="2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00950" y="3295650"/>
            <a:ext cx="142875" cy="142875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7858125" y="3295650"/>
            <a:ext cx="3438525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后端真实模型模式在线（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health: mock=false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）</a:t>
            </a:r>
            <a:endParaRPr/>
          </a:p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00950" y="3657600"/>
            <a:ext cx="142875" cy="142875"/>
          </a:xfrm>
          <a:prstGeom prst="rect">
            <a:avLst/>
          </a:prstGeom>
          <a:ln/>
        </p:spPr>
      </p:pic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858125" y="3657600"/>
            <a:ext cx="3438525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后端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56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项测试通过，含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4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条端到端闭环</a:t>
            </a:r>
            <a:endParaRPr/>
          </a:p>
        </p:txBody>
      </p:sp>
      <p:pic>
        <p:nvPicPr>
          <p:cNvPr id="2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600950" y="4019550"/>
            <a:ext cx="142875" cy="142875"/>
          </a:xfrm>
          <a:prstGeom prst="rect">
            <a:avLst/>
          </a:prstGeom>
          <a:ln/>
        </p:spPr>
      </p:pic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858125" y="4019550"/>
            <a:ext cx="3438525" cy="2286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五平台上架包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+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合规报告可导出续查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7600950" y="5438775"/>
            <a:ext cx="3695700" cy="571500"/>
          </a:xfrm>
          <a:custGeom>
            <a:pathLst>
              <a:path w="388" h="60">
                <a:moveTo>
                  <a:pt x="0" y="0"/>
                </a:moveTo>
                <a:lnTo>
                  <a:pt x="388" y="0"/>
                </a:lnTo>
                <a:lnTo>
                  <a:pt x="388" y="1"/>
                </a:lnTo>
                <a:lnTo>
                  <a:pt x="0" y="1"/>
                </a:lnTo>
                <a:close/>
              </a:path>
            </a:pathLst>
          </a:custGeom>
          <a:solidFill>
            <a:srgbClr val="EDEDE9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600950" y="5638800"/>
            <a:ext cx="3695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58580"/>
                </a:solidFill>
                <a:latin typeface="PingFang SC"/>
                <a:ea typeface="PingFang SC"/>
              </a:rPr>
              <a:t>SOURCE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600950" y="5848350"/>
            <a:ext cx="3695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211E"/>
                </a:solidFill>
                <a:latin typeface="PingFang SC"/>
                <a:ea typeface="PingFang SC"/>
              </a:rPr>
              <a:t>github.com/gxinxing/qianan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09600" y="62865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">
                <a:solidFill>
                  <a:srgbClr val="858580"/>
                </a:solidFill>
                <a:latin typeface="PingFang SC"/>
                <a:ea typeface="PingFang SC"/>
              </a:rPr>
              <a:t>千岸</a:t>
            </a:r>
            <a:r>
              <a:rPr lang="en-US" sz="900" spc="22">
                <a:solidFill>
                  <a:srgbClr val="858580"/>
                </a:solidFill>
                <a:latin typeface="PingFang SC"/>
                <a:ea typeface="PingFang SC"/>
              </a:rPr>
              <a:t> QianAn · Simon Studio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58580"/>
                </a:solidFill>
                <a:latin typeface="PingFang SC"/>
                <a:ea typeface="PingFang SC"/>
              </a:rPr>
              <a:t>08 / 10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229" name="" descr="&lt;Slide style={{ width: 1280, height: 720, background: '#F7F7F5', padding: '32px 64px 0 64px', fontFamily: 'PingFang SC' }}&gt;&#10;    &lt;Box style={{ height: 88 }}&gt;&#10;        &lt;Text style={{ fontSize: 12, fontWeight: 500, letterSpacing: 1.8, color: '#5E6752' }}&gt;HONESTY · 边界&lt;/Text&gt;&#10;        &lt;Text style={{ fontSize: 32, fontWeight: 700, color: '#20211E', letterSpacing: -0.4, marginTop: 6, lineHeight: 1.25 }}&gt;我们知道它现在还不行在哪&lt;/Text&gt;&#10;    &lt;/Box&gt;&#10;&#10;    &lt;Box style={{ height: 540, flexDirection: 'row', gap: 48 }}&gt;&#10;        &lt;Box style={{&#10;            width: 350,&#10;            background: '#EFEFEB',&#10;            borderRadius: 12,&#10;            padding: 30,&#10;            justifyContent: 'space-between',&#10;        }}&gt;&#10;            &lt;Box&gt;&#10;                &lt;Box style={{ width: 40, height: 2, background: '#5E6752', marginBottom: 20 }} /&gt;&#10;                &lt;Text style={{ fontSize: 11, letterSpacing: 2, color: '#5E6752' }}&gt;LIMITS&lt;/Text&gt;&#10;                &lt;Text style={{ fontSize: 24, fontWeight: 700, color: '#20211E', lineHeight: 1.45, marginTop: 18 }}&gt;&#10;                    把边界&lt;br /&gt;写进交付文档，&lt;br /&gt;比宣称&lt;br /&gt;「100% 合规」&lt;br /&gt;更值钱。&#10;                &lt;/Text&gt;&#10;            &lt;/Box&gt;&#10;            &lt;Box&gt;&#10;                &lt;Text style={{ fontSize: 12, color: '#64645E', lineHeight: 1.7 }}&gt;&#10;                    下面四条都出现在&lt;br /&gt;我们的交付文档里，&lt;br /&gt;没有藏起来。&#10;                &lt;/Text&gt;&#10;            &lt;/Box&gt;&#10;        &lt;/Box&gt;&#10;&#10;        &lt;Box style={{ width: 754, justifyContent: 'space-between' }}&gt;&#10;            &lt;Box style={{ flex: 1, borderBottom: '1px solid #DEDED9', paddingBottom: 14 }}&gt;&#10;                &lt;Box style={{ flexDirection: 'row', alignItems: 'baseline', gap: 12 }}&gt;&#10;                    &lt;Text style={{ fontSize: 12, fontWeight: 700, color: '#5E6752' }}&gt;01&lt;/Text&gt;&#10;                    &lt;Text style={{ fontSize: 17, fontWeight: 600, color: '#20211E' }}&gt;消融实验只测了一个商品&lt;/Text&gt;&#10;                &lt;/Box&gt;&#10;                &lt;Text style={{ fontSize: 13.5, color: '#64645E', lineHeight: 1.6, marginTop: 8 }}&gt;单商品 × 5 配置 × 单次运行，样本量撑不起统计显著性。我们在报告里如实标注，没有把它包装成「实验证明」。&lt;/Text&gt;&#10;            &lt;/Box&gt;&#10;&#10;            &lt;Box style={{ flex: 1, borderBottom: '1px solid #DEDED9', paddingBottom: 14, paddingTop: 14 }}&gt;&#10;                &lt;Box style={{ flexDirection: 'row', alignItems: 'baseline', gap: 12 }}&gt;&#10;                    &lt;Text style={{ fontSize: 12, fontWeight: 700, color: '#5E6752' }}&gt;02&lt;/Text&gt;&#10;                    &lt;Text style={{ fontSize: 17, fontWeight: 600, color: '#20211E' }}&gt;多 Agent 蜂群只落地了第 1 层&lt;/Text&gt;&#10;                &lt;/Box&gt;&#10;                &lt;Text style={{ fontSize: 13.5, color: '#64645E', lineHeight: 1.6, marginTop: 8 }}&gt;黑板未落盘、平台 worker 仍是串行、未接多轮会话。蜂群默认关闭，不进演示路径——只把跑稳的那一层拿上台。&lt;/Text&gt;&#10;            &lt;/Box&gt;&#10;&#10;            &lt;Box style={{ flex: 1, borderBottom: '1px solid #DEDED9', paddingBottom: 14, paddingTop: 14 }}&gt;&#10;                &lt;Box style={{ flexDirection: 'row', alignItems: 'baseline', gap: 12 }}&gt;&#10;                    &lt;Text style={{ fontSize: 12, fontWeight: 700, color: '#5E6752' }}&gt;03&lt;/Text&gt;&#10;                    &lt;Text style={{ fontSize: 17, fontWeight: 600, color: '#20211E' }}&gt;公网云函数有 120 秒超时&lt;/Text&gt;&#10;                &lt;/Box&gt;&#10;                &lt;Text style={{ fontSize: 13.5, color: '#64645E', lineHeight: 1.6, marginTop: 8 }}&gt;真实模式下多平台长任务可能触顶。演示走 SSE 流式通道（连接保持），或本地起服务走异步分支，立即返回 task_id。&lt;/Text&gt;&#10;            &lt;/Box&gt;&#10;&#10;            &lt;Box style={{ flex: 1, paddingTop: 14 }}&gt;&#10;                &lt;Box style={{ flexDirection: 'row', alignItems: 'baseline', gap: 12 }}&gt;&#10;                    &lt;Text style={{ fontSize: 12, fontWeight: 700, color: '#5E6752' }}&gt;04&lt;/Text&gt;&#10;                    &lt;Text style={{ fontSize: 17, fontWeight: 600, color: '#20211E' }}&gt;记忆检索还不是语义检索&lt;/Text&gt;&#10;                &lt;/Box&gt;&#10;                &lt;Text style={{ fontSize: 13.5, color: '#64645E', lineHeight: 1.6, marginTop: 8 }}&gt;目前是标签过滤 + 频次排序，教训库变大之后召回精度会衰减。已列为下一步的明确改造项，不在本次声称范围内。&lt;/Text&gt;&#10;            &lt;/Box&gt;&#10;        &lt;/Box&gt;&#10;    &lt;/Box&gt;&#10;&#10;    &lt;Box style={{ height: 60, borderTop: '1px solid #DEDED9', flexDirection: 'row', alignItems: 'center', justifyContent: 'space-between' }}&gt;&#10;        &lt;Text style={{ fontSize: 12, color: '#858580', letterSpacing: 0.3 }}&gt;千岸 QianAn · Simon Studio&lt;/Text&gt;&#10;        &lt;Text style={{ fontSize: 12, color: '#858580', letterSpacing: 1.2 }}&gt;09 / 10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9600" y="304800"/>
            <a:ext cx="10972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35">
                <a:solidFill>
                  <a:srgbClr val="5E6752"/>
                </a:solidFill>
                <a:latin typeface="PingFang SC"/>
                <a:ea typeface="PingFang SC"/>
              </a:rPr>
              <a:t>HONESTY · </a:t>
            </a:r>
            <a:r>
              <a:rPr lang="zh-CN" sz="900" spc="135">
                <a:solidFill>
                  <a:srgbClr val="5E6752"/>
                </a:solidFill>
                <a:latin typeface="PingFang SC"/>
                <a:ea typeface="PingFang SC"/>
              </a:rPr>
              <a:t>边界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09600" y="504825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400" b="1" spc="-30">
                <a:solidFill>
                  <a:srgbClr val="20211E"/>
                </a:solidFill>
                <a:latin typeface="PingFang SC"/>
                <a:ea typeface="PingFang SC"/>
              </a:rPr>
              <a:t>我们知道它现在还不行在哪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609600" y="1143000"/>
            <a:ext cx="3333750" cy="5143500"/>
          </a:xfrm>
          <a:prstGeom prst="roundRect">
            <a:avLst>
              <a:gd name="adj" fmla="val 3429"/>
            </a:avLst>
          </a:prstGeom>
          <a:solidFill>
            <a:srgbClr val="EFEFEB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895350" y="1428750"/>
            <a:ext cx="381000" cy="19050"/>
          </a:xfrm>
          <a:prstGeom prst="rect">
            <a:avLst/>
          </a:prstGeom>
          <a:solidFill>
            <a:srgbClr val="5E6752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95350" y="1638300"/>
            <a:ext cx="27622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spc="150">
                <a:solidFill>
                  <a:srgbClr val="5E6752"/>
                </a:solidFill>
                <a:latin typeface="PingFang SC"/>
                <a:ea typeface="PingFang SC"/>
              </a:rPr>
              <a:t>LIMITS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95350" y="1943100"/>
            <a:ext cx="2762250" cy="19907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0211E"/>
                </a:solidFill>
                <a:latin typeface="PingFang SC"/>
                <a:ea typeface="PingFang SC"/>
              </a:rPr>
              <a:t>把边界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0211E"/>
                </a:solidFill>
                <a:latin typeface="PingFang SC"/>
                <a:ea typeface="PingFang SC"/>
              </a:rPr>
              <a:t>写进交付文档，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0211E"/>
                </a:solidFill>
                <a:latin typeface="PingFang SC"/>
                <a:ea typeface="PingFang SC"/>
              </a:rPr>
              <a:t>比宣称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0211E"/>
                </a:solidFill>
                <a:latin typeface="PingFang SC"/>
                <a:ea typeface="PingFang SC"/>
              </a:rPr>
              <a:t>「</a:t>
            </a:r>
            <a:r>
              <a:rPr lang="en-US" sz="1800" b="1">
                <a:solidFill>
                  <a:srgbClr val="20211E"/>
                </a:solidFill>
                <a:latin typeface="PingFang SC"/>
                <a:ea typeface="PingFang SC"/>
              </a:rPr>
              <a:t>100% </a:t>
            </a:r>
            <a:r>
              <a:rPr lang="zh-CN" sz="1800" b="1">
                <a:solidFill>
                  <a:srgbClr val="20211E"/>
                </a:solidFill>
                <a:latin typeface="PingFang SC"/>
                <a:ea typeface="PingFang SC"/>
              </a:rPr>
              <a:t>合规」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20211E"/>
                </a:solidFill>
                <a:latin typeface="PingFang SC"/>
                <a:ea typeface="PingFang SC"/>
              </a:rPr>
              <a:t>更值钱。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95350" y="5295900"/>
            <a:ext cx="2762250" cy="7048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64645E"/>
                </a:solidFill>
                <a:latin typeface="PingFang SC"/>
                <a:ea typeface="PingFang SC"/>
              </a:rPr>
              <a:t>下面四条都出现在</a:t>
            </a:r>
            <a:endParaRPr/>
          </a:p>
          <a:p>
            <a:pPr>
              <a:lnSpc>
                <a:spcPct val="170000"/>
              </a:lnSpc>
            </a:pPr>
            <a:r>
              <a:rPr lang="zh-CN" sz="900">
                <a:solidFill>
                  <a:srgbClr val="64645E"/>
                </a:solidFill>
                <a:latin typeface="PingFang SC"/>
                <a:ea typeface="PingFang SC"/>
              </a:rPr>
              <a:t>我们的交付文档里，</a:t>
            </a:r>
            <a:endParaRPr/>
          </a:p>
          <a:p>
            <a:pPr>
              <a:lnSpc>
                <a:spcPct val="170000"/>
              </a:lnSpc>
            </a:pPr>
            <a:r>
              <a:rPr lang="zh-CN" sz="900">
                <a:solidFill>
                  <a:srgbClr val="64645E"/>
                </a:solidFill>
                <a:latin typeface="PingFang SC"/>
                <a:ea typeface="PingFang SC"/>
              </a:rPr>
              <a:t>没有藏起来。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4400550" y="1143000"/>
            <a:ext cx="7181850" cy="1228725"/>
          </a:xfrm>
          <a:custGeom>
            <a:pathLst>
              <a:path w="754" h="129">
                <a:moveTo>
                  <a:pt x="0" y="128"/>
                </a:moveTo>
                <a:lnTo>
                  <a:pt x="754" y="128"/>
                </a:lnTo>
                <a:lnTo>
                  <a:pt x="754" y="129"/>
                </a:lnTo>
                <a:lnTo>
                  <a:pt x="0" y="129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4400550" y="1143000"/>
            <a:ext cx="12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4638675" y="114300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消融实验只测了一个商品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400550" y="1419225"/>
            <a:ext cx="71818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单商品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× 5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配置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×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单次运行，样本量撑不起统计显著性。我们在报告里如实标注，没有把它包装成「实验证明」。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4400550" y="2362200"/>
            <a:ext cx="7181850" cy="1371600"/>
          </a:xfrm>
          <a:custGeom>
            <a:pathLst>
              <a:path w="754" h="144">
                <a:moveTo>
                  <a:pt x="0" y="143"/>
                </a:moveTo>
                <a:lnTo>
                  <a:pt x="754" y="143"/>
                </a:lnTo>
                <a:lnTo>
                  <a:pt x="754" y="144"/>
                </a:lnTo>
                <a:lnTo>
                  <a:pt x="0" y="144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4400550" y="2495550"/>
            <a:ext cx="14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4657725" y="2495550"/>
            <a:ext cx="2200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多</a:t>
            </a:r>
            <a:r>
              <a:rPr lang="en-US" sz="1275" b="1">
                <a:solidFill>
                  <a:srgbClr val="20211E"/>
                </a:solidFill>
                <a:latin typeface="PingFang SC"/>
                <a:ea typeface="PingFang SC"/>
              </a:rPr>
              <a:t> Agent </a:t>
            </a: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蜂群只落地了第</a:t>
            </a:r>
            <a:r>
              <a:rPr lang="en-US" sz="1275" b="1">
                <a:solidFill>
                  <a:srgbClr val="20211E"/>
                </a:solidFill>
                <a:latin typeface="PingFang SC"/>
                <a:ea typeface="PingFang SC"/>
              </a:rPr>
              <a:t> 1 </a:t>
            </a: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层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400550" y="2771775"/>
            <a:ext cx="71818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黑板未落盘、平台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worker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仍是串行、未接多轮会话。蜂群默认关闭，不进演示路径——只把跑稳的那一层拿上台。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4400550" y="3724275"/>
            <a:ext cx="7181850" cy="1362075"/>
          </a:xfrm>
          <a:custGeom>
            <a:pathLst>
              <a:path w="754" h="143">
                <a:moveTo>
                  <a:pt x="0" y="142"/>
                </a:moveTo>
                <a:lnTo>
                  <a:pt x="754" y="142"/>
                </a:lnTo>
                <a:lnTo>
                  <a:pt x="754" y="143"/>
                </a:lnTo>
                <a:lnTo>
                  <a:pt x="0" y="143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400550" y="3857625"/>
            <a:ext cx="14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4657725" y="3857625"/>
            <a:ext cx="1828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公网云函数有</a:t>
            </a:r>
            <a:r>
              <a:rPr lang="en-US" sz="1275" b="1">
                <a:solidFill>
                  <a:srgbClr val="20211E"/>
                </a:solidFill>
                <a:latin typeface="PingFang SC"/>
                <a:ea typeface="PingFang SC"/>
              </a:rPr>
              <a:t> 120 </a:t>
            </a: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秒超时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4400550" y="4133850"/>
            <a:ext cx="71818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真实模式下多平台长任务可能触顶。演示走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SSE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流式通道（连接保持），或本地起服务走异步分支，立即返回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task_id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。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400550" y="5210175"/>
            <a:ext cx="142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5E6752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657725" y="5210175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211E"/>
                </a:solidFill>
                <a:latin typeface="PingFang SC"/>
                <a:ea typeface="PingFang SC"/>
              </a:rPr>
              <a:t>记忆检索还不是语义检索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400550" y="5486400"/>
            <a:ext cx="71818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目前是标签过滤</a:t>
            </a:r>
            <a:r>
              <a:rPr lang="en-US" sz="1013">
                <a:solidFill>
                  <a:srgbClr val="64645E"/>
                </a:solidFill>
                <a:latin typeface="PingFang SC"/>
                <a:ea typeface="PingFang SC"/>
              </a:rPr>
              <a:t> + </a:t>
            </a:r>
            <a:r>
              <a:rPr lang="zh-CN" sz="1013">
                <a:solidFill>
                  <a:srgbClr val="64645E"/>
                </a:solidFill>
                <a:latin typeface="PingFang SC"/>
                <a:ea typeface="PingFang SC"/>
              </a:rPr>
              <a:t>频次排序，教训库变大之后召回精度会衰减。已列为下一步的明确改造项，不在本次声称范围内。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09600" y="6286500"/>
            <a:ext cx="10972800" cy="571500"/>
          </a:xfrm>
          <a:custGeom>
            <a:pathLst>
              <a:path w="1152" h="60">
                <a:moveTo>
                  <a:pt x="0" y="0"/>
                </a:moveTo>
                <a:lnTo>
                  <a:pt x="1152" y="0"/>
                </a:lnTo>
                <a:lnTo>
                  <a:pt x="1152" y="1"/>
                </a:lnTo>
                <a:lnTo>
                  <a:pt x="0" y="1"/>
                </a:lnTo>
                <a:close/>
              </a:path>
            </a:pathLst>
          </a:custGeom>
          <a:solidFill>
            <a:srgbClr val="DEDED9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6505575"/>
            <a:ext cx="1562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22">
                <a:solidFill>
                  <a:srgbClr val="858580"/>
                </a:solidFill>
                <a:latin typeface="PingFang SC"/>
                <a:ea typeface="PingFang SC"/>
              </a:rPr>
              <a:t>千岸</a:t>
            </a:r>
            <a:r>
              <a:rPr lang="en-US" sz="900" spc="22">
                <a:solidFill>
                  <a:srgbClr val="858580"/>
                </a:solidFill>
                <a:latin typeface="PingFang SC"/>
                <a:ea typeface="PingFang SC"/>
              </a:rPr>
              <a:t> QianAn · Simon Studio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115675" y="6505575"/>
            <a:ext cx="466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90">
                <a:solidFill>
                  <a:srgbClr val="858580"/>
                </a:solidFill>
                <a:latin typeface="PingFang SC"/>
                <a:ea typeface="PingFang SC"/>
              </a:rPr>
              <a:t>09 / 10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2" name="" descr="&lt;Slide style={{ width: 1280, height: 720, background: '#F7F7F5', position: 'relative', overflow: 'hidden', justifyContent: 'center', alignItems: 'center', fontFamily: 'PingFang SC' }}&gt;&#10;    &lt;Box style={{&#10;        position: 'absolute',&#10;        top: -220,&#10;        right: -140,&#10;        width: 620,&#10;        height: 620,&#10;        background: 'radial-gradient(circle, rgba(94,103,82,0.12) 0%, rgba(94,103,82,0) 70%)',&#10;    }} /&gt;&#10;&#10;    &lt;Box style={{ position: 'relative', zIndex: 1, alignItems: 'center', width: 960 }}&gt;&#10;        &lt;Text style={{ fontSize: 12, fontWeight: 500, color: '#5E6752' }}&gt;QIANAN · 一稿多岸&lt;/Text&gt;&#10;&#10;        &lt;Text style={{ fontSize: 54, fontWeight: 700, color: '#20211E', lineHeight: 1.28, textAlign: 'center', marginTop: 32 }}&gt;&#10;            同一件商品，&lt;br /&gt;摆上全球每一个货架。&#10;        &lt;/Text&gt;&#10;&#10;        &lt;Text style={{ fontSize: 18, color: '#64645E', marginTop: 24, textAlign: 'center' }}&gt;&#10;            一个设计稿，铺到千片海岸。&#10;        &lt;/Text&gt;&#10;&#10;        &lt;Box style={{ width: 56, height: 2, background: '#5E6752', marginTop: 38 }} /&gt;&#10;&#10;        &lt;Box style={{ flexDirection: 'row', gap: 64, marginTop: 44, alignItems: 'flex-start' }}&gt;&#10;            &lt;Box style={{ alignItems: 'center' }}&gt;&#10;                &lt;Text style={{ fontSize: 10.5, color: '#858580' }}&gt;SOURCE&lt;/Text&gt;&#10;                &lt;Text style={{ fontSize: 13, color: '#20211E', marginTop: 9 }}&gt;github.com/gxinxing/qianan&lt;/Text&gt;&#10;            &lt;/Box&gt;&#10;            &lt;Box style={{ width: 1, height: 34, background: '#DEDED9' }} /&gt;&#10;            &lt;Box style={{ alignItems: 'center' }}&gt;&#10;                &lt;Text style={{ fontSize: 10.5, color: '#858580' }}&gt;TEAM&lt;/Text&gt;&#10;                &lt;Text style={{ fontSize: 13, color: '#20211E', marginTop: 9 }}&gt;Simon Studio&lt;/Text&gt;&#10;            &lt;/Box&gt;&#10;            &lt;Box style={{ width: 1, height: 34, background: '#DEDED9' }} /&gt;&#10;            &lt;Box style={{ alignItems: 'center' }}&gt;&#10;                &lt;Text style={{ fontSize: 10.5, color: '#858580' }}&gt;TRACK&lt;/Text&gt;&#10;                &lt;Text style={{ fontSize: 13, color: '#20211E', marginTop: 9 }}&gt;场景一 · AI 智能上新&lt;/Text&gt;&#10;            &lt;/Box&gt;&#10;        &lt;/Box&gt;&#10;    &lt;/Box&gt;&#10;&#10;    &lt;Text style={{ position: 'absolute', bottom: 44, left: 540, width: 200, textAlign: 'center', fontSize: 11, color: '#B5B5AE' }}&gt;&#10;        10 / 10&#10;  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7F5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7620000" y="-2095500"/>
            <a:ext cx="5905500" cy="5905500"/>
          </a:xfrm>
          <a:custGeom>
            <a:pathLst>
              <a:path w="620" h="620">
                <a:moveTo>
                  <a:pt x="480" y="620"/>
                </a:moveTo>
                <a:lnTo>
                  <a:pt x="0" y="620"/>
                </a:lnTo>
                <a:lnTo>
                  <a:pt x="0" y="220"/>
                </a:lnTo>
                <a:lnTo>
                  <a:pt x="480" y="220"/>
                </a:lnTo>
                <a:close/>
              </a:path>
            </a:pathLst>
          </a:custGeom>
          <a:gradFill>
            <a:gsLst>
              <a:gs pos="0">
                <a:srgbClr val="5E6752">
                  <a:alpha val="12000"/>
                </a:srgbClr>
              </a:gs>
              <a:gs pos="70000">
                <a:srgbClr val="5E675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5143500" y="6305550"/>
            <a:ext cx="19050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825">
                <a:solidFill>
                  <a:srgbClr val="B5B5AE"/>
                </a:solidFill>
                <a:latin typeface="PingFang SC"/>
                <a:ea typeface="PingFang SC"/>
              </a:rPr>
              <a:t>10 / 10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5581650" y="1619250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5E6752"/>
                </a:solidFill>
                <a:latin typeface="PingFang SC"/>
                <a:ea typeface="PingFang SC"/>
              </a:rPr>
              <a:t>QIANAN · </a:t>
            </a:r>
            <a:r>
              <a:rPr lang="zh-CN" sz="900">
                <a:solidFill>
                  <a:srgbClr val="5E6752"/>
                </a:solidFill>
                <a:latin typeface="PingFang SC"/>
                <a:ea typeface="PingFang SC"/>
              </a:rPr>
              <a:t>一稿多岸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3524250" y="2066925"/>
            <a:ext cx="5143500" cy="1581150"/>
          </a:xfrm>
          <a:prstGeom prst="rect"/>
        </p:spPr>
        <p:txBody>
          <a:bodyPr wrap="none" lIns="0" tIns="0" rIns="0" bIns="0"/>
          <a:p>
            <a:pPr algn="ctr">
              <a:lnSpc>
                <a:spcPct val="128000"/>
              </a:lnSpc>
            </a:pPr>
            <a:r>
              <a:rPr lang="zh-CN" sz="4050" b="1">
                <a:solidFill>
                  <a:srgbClr val="20211E"/>
                </a:solidFill>
                <a:latin typeface="PingFang SC"/>
                <a:ea typeface="PingFang SC"/>
              </a:rPr>
              <a:t>同一件商品，</a:t>
            </a:r>
            <a:endParaRPr/>
          </a:p>
          <a:p>
            <a:pPr algn="ctr">
              <a:lnSpc>
                <a:spcPct val="128000"/>
              </a:lnSpc>
            </a:pPr>
            <a:r>
              <a:rPr lang="zh-CN" sz="4050" b="1">
                <a:solidFill>
                  <a:srgbClr val="20211E"/>
                </a:solidFill>
                <a:latin typeface="PingFang SC"/>
                <a:ea typeface="PingFang SC"/>
              </a:rPr>
              <a:t>摆上全球每一个货架。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4981575" y="3876675"/>
            <a:ext cx="2228850" cy="2095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350">
                <a:solidFill>
                  <a:srgbClr val="64645E"/>
                </a:solidFill>
                <a:latin typeface="PingFang SC"/>
                <a:ea typeface="PingFang SC"/>
              </a:rPr>
              <a:t>一个设计稿，铺到千片海岸。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5829300" y="4448175"/>
            <a:ext cx="533400" cy="19050"/>
          </a:xfrm>
          <a:prstGeom prst="rect">
            <a:avLst/>
          </a:prstGeom>
          <a:solidFill>
            <a:srgbClr val="5E6752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686175" y="4886325"/>
            <a:ext cx="419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58580"/>
                </a:solidFill>
                <a:latin typeface="PingFang SC"/>
                <a:ea typeface="PingFang SC"/>
              </a:rPr>
              <a:t>SOURCE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086100" y="5095875"/>
            <a:ext cx="1619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211E"/>
                </a:solidFill>
                <a:latin typeface="PingFang SC"/>
                <a:ea typeface="PingFang SC"/>
              </a:rPr>
              <a:t>github.com/gxinxing/qianan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5314950" y="4886325"/>
            <a:ext cx="9525" cy="323850"/>
          </a:xfrm>
          <a:prstGeom prst="rect">
            <a:avLst/>
          </a:prstGeom>
          <a:solidFill>
            <a:srgbClr val="DEDED9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181725" y="4886325"/>
            <a:ext cx="2857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58580"/>
                </a:solidFill>
                <a:latin typeface="PingFang SC"/>
                <a:ea typeface="PingFang SC"/>
              </a:rPr>
              <a:t>TEAM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5934075" y="5095875"/>
            <a:ext cx="771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211E"/>
                </a:solidFill>
                <a:latin typeface="PingFang SC"/>
                <a:ea typeface="PingFang SC"/>
              </a:rPr>
              <a:t>Simon Studio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7315200" y="4886325"/>
            <a:ext cx="9525" cy="323850"/>
          </a:xfrm>
          <a:prstGeom prst="rect">
            <a:avLst/>
          </a:prstGeom>
          <a:solidFill>
            <a:srgbClr val="DEDED9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353425" y="4886325"/>
            <a:ext cx="3429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>
                <a:solidFill>
                  <a:srgbClr val="858580"/>
                </a:solidFill>
                <a:latin typeface="PingFang SC"/>
                <a:ea typeface="PingFang SC"/>
              </a:rPr>
              <a:t>TRACK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934325" y="5095875"/>
            <a:ext cx="1171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211E"/>
                </a:solidFill>
                <a:latin typeface="PingFang SC"/>
                <a:ea typeface="PingFang SC"/>
              </a:rPr>
              <a:t>场景一</a:t>
            </a:r>
            <a:r>
              <a:rPr lang="en-US" sz="975">
                <a:solidFill>
                  <a:srgbClr val="20211E"/>
                </a:solidFill>
                <a:latin typeface="PingFang SC"/>
                <a:ea typeface="PingFang SC"/>
              </a:rPr>
              <a:t> · AI </a:t>
            </a:r>
            <a:r>
              <a:rPr lang="zh-CN" sz="975">
                <a:solidFill>
                  <a:srgbClr val="20211E"/>
                </a:solidFill>
                <a:latin typeface="PingFang SC"/>
                <a:ea typeface="PingFang SC"/>
              </a:rPr>
              <a:t>智能上新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2026-09-15T22:34:01Z</dcterms:created>
  <dcterms:modified xsi:type="dcterms:W3CDTF">2026-09-15T22:34:01Z</dcterms:modified>
</cp:coreProperties>
</file>